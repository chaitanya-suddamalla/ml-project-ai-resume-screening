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Faculty Evaluators, my Guide Smt. Y. Supriya Reddy ma'am, and dear classmates, a very good morning to all of you. My name is Meda Geethika, studying B.Tech in Computer Science and Engineering at G. Pulla Reddy Engineering College (Autonomous), Kurnool, bearing Register Number 239X1A05D6. Today, I am presenting my 8-week Short-Term Industry Internship Review presentation on the project titled 'AI-Based Resume Screening and Job Matching System', completed under the mentorship of InternPe in the Artificial Intelligence and Machine Learning domain. Over the next 15 minutes, I will walk you through the problem statement, system architecture, NLP algorithms, implementation details, and learning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summarizes my official internship registration details. I completed my 8-week virtual internship from May 4th, 2026 to June 28th, 2026 with InternPe. The domain assigned was Artificial Intelligence and Machine Learning, focusing on building a real-time Python machine learning project. Throughout this period, I worked under the continuous guidance of our faculty guide, Smt. Y. Supriya Reddy ma'am, to align the technical learning with academic computer science principles.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InternPe provides project-based learning for computer science engineering students. During my internship, I was tasked with developing a real-time machine learning application in Python. My role involved taking raw, unstructured resume files and job descriptions, applying Natural Language Processing concepts to extract information, and building a working web application. This gave me practical exposure to the complete ML lifecycle, from data preprocessing to web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objectives of this internship were six-fold: First, to gain hands-on experience with the complete ML project lifecycle; second, to learn Python libraries like Pandas, NumPy, Scikit-Learn, and FastAPI; third, to understand how unstructured text is converted into numerical vectors using TF-IDF; fourth, to calculate text similarity using Cosine Similarity; fifth, to automate skill-gap identification and generate learning roadmaps; and sixth, to ensure the tool operates ethically as a career-assistance system rather than making automated hiring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traditional hiring and preparation process, manual resume evaluation is slow, repetitive, and subjective. Recruiters manually read through hundreds of resumes, while candidates applying for technical roles often have no clear idea of why their resume failed to match a job description. Furthermore, simple keyword matching is flawed because candidates write skills in different ways—for example, writing 'React.js' instead of 'React'. Our problem statement addresses this gap by building an intelligent NLP system that measures text similarity, extracts technical skills, and provides actionable feedback to students.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 problem, we proposed a full-stack ML application. The system ingests resumes in PDF, DOCX, or TXT format, cleans the text while protecting technical terms like C++ and React.js, converts the text into numerical vectors using TF-IDF, calculates similarity using Cosine Similarity, categorizes skills into matched and missing, and generates a personalized learning roadmap. Importantly, we clearly state in the application interface that this is a career assistance diagnostic tool, not an automated hiring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illustrates the complete end-to-end data processing workflow. The user provides a resume and a job description. The document parser extracts text, sanitizes PII, and sends it to the NLP engine. Here, text preprocessing preserves key technical symbols. Then, TF-IDF converts the texts into high-dimensional vectors, and Cosine Similarity computes the similarity score. Simultaneously, the skill extractor matches terms against our skill dictionary, categorizes them into matched and missing skills, generates project exercises for missing skills, and saves the full analysis into SQLite for display on the React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multi-tier layered system architecture. At the top is the Presentation Layer built with React.js and Tailwind CSS. The frontend communicates with the Application Backend built using Python FastAPI via REST APIs. When a request arrives, the backend passes the document to the Document Processing Layer where PyMuPDF or python-docx extracts raw text and masks PII. The text then flows into the Machine Learning Engine containing Scikit-Learn TF-IDF vectorizers and Cosine Similarity functions. Finally, results are persisted into SQLite tables via SQLAlchemy ORM.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document parsing and privacy protection. Resumes come in various file formats—PDF, DOCX, and TXT. We implemented robust parsers using PyMuPDF and python-docx. If a user uploads an unreadable image-based scanned PDF, the parser catches the error and instructs the user gracefully. Furthermore, to comply with ethical data practices, we built regex-based PII sanitization that automatically replaces emails, phone numbers, and personal website links with confidential placeholders before NLP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preprocessing is one of the most critical steps in any NLP pipeline. If you use standard regex cleaning on programming terms, 'C++' becomes just 'C', and 'React.js' becomes 'React' and 'js'. To solve this, we built a custom technical token preservation engine. Before tokenization, terms like C++ are mapped to 'cplusplus', C# to 'csharp', and React.js to 'reactjs'. After protecting these terms, the text is lowercased, punctuation is cleaned, generic English stop-words are removed, and multi-space gaps are collapsed.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allow mathematical algorithms to compare resumes with job descriptions, we must convert text into numbers. We use TF-IDF vectorization. Term Frequency measures how often a word appears in a document, while Inverse Document Frequency dampens common words and gives higher weight to rare, informative technical terms like 'FastAPI' or 'Kubernetes'. We configured Scikit-Learn's TfidfVectorizer with an N-gram range of (1, 2). This allows our model to capture both single-word skills like 'Python' and two-word phrases like 'Machine Learning' or 'REST 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resume and job description are converted into TF-IDF vectors, we measure their alignment using Cosine Similarity. Mathematically, Cosine Similarity calculates the dot product of the two vectors divided by the product of their magnitudes. If two documents use identical technical terms in similar proportions, the angle between their vectors approaches 0 degrees, giving a Cosine Similarity score near 1.0 or 100%. If they share no vocabulary, the vectors are orthogonal, yielding 0%. This percentage is presented on our dashboard clearly as a Text Similarity Score.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addition to statistical vector similarity, our system performs transparent phrase-based skill extraction. We created an extensible JSON skill dictionary containing over 150 categorized technical skills with synonym mappings. For example, if a resume contains 'React.js' and the job post asks for 'ReactJS', our canonical lookup table maps both to the standard name 'React'. Using boundary regular expressions, we prevent false sub-string matches—such as accidentally matching 'Java' inside 'JavaScript'. This categorizes skills into Matched, Missing, and Resume-Only skills.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demonstrates the core student-assistance feature: Skill Gap Analysis and Personalized Roadmaps. In this example, the candidate possesses Java, Python, SQL, and React, but lacks Docker, Kubernetes, and CI/CD requested by the job description. For each missing skill, the system queries our recommendation engine and automatically generates a practical project exercise, assigns a proficiency level based on job context, and tracks progress via interactive status buttons—Not Started, In Progress, or Completed.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is architected in a modular structure inside FastAPI. Each component has a distinct single responsibility: `parser.py` handles multi-format file reading and PII masking; `preprocessing.py` handles technical token protection; `vectorizer.py` wraps Scikit-Learn's TF-IDF vectorizer; `similarity.py` calculates Cosine and Jaccard metrics; `skill_extractor.py` handles phrase matching; `pipeline.py` orchestrates the entire workflow; and `models.py` manages SQLAlchemy database models. This modular architecture makes the project easy to debug, test, and expand.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summarizes the full technology stack. On the backend, we use Python 3.14, Scikit-Learn for TF-IDF and Cosine Similarity, Pandas and NumPy for data manipulation, PyMuPDF and python-docx for document parsing, and FastAPI with Uvicorn for serving REST APIs. On the database side, we use SQLite3 with SQLAlchemy ORM. On the frontend, we use React.js with Vite, Tailwind CSS for glassmorphic styling, and Lucide React for UI icons. Automated testing is handled using Pytest.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illustrates the user interface layout of our React application. The interface contains five main panels: First, an Interactive Dual-Pane Editor for uploading resumes and entering job descriptions; Second, a Radial SVG Similarity Gauge displaying the Cosine match percentage and qualitative level; Third, Categorized Skill Badges using green for matched, amber for missing, and blue for extra skills; Fourth, an Interactive Learning Roadmap table where users toggle skill progress; and Fifth, an Analysis History Log and Model Evaluation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implementation, we encountered five key technical challenges: First, standard tokenization destroyed special programming symbols like C++ and C#. We solved this using pre-tokenization regex preservation. Second, synonym variance caused identical skills to be missed. We solved this with a canonical dictionary lookup. Third, scanned image PDFs produced zero text. We implemented page content validation safeguards. Fourth, storing contact details posed privacy concerns. We built automated PII regex masking. Fifth, keyword repetition distorted scores. We applied sublinear term frequency dampening.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internship provided immense learning outcomes across three dimensions: Technical Mastery, Practical Engineering, and Professional Skills. Technically, I mastered Python-based NLP, Scikit-Learn TF-IDF vectorization, Cosine Similarity math, FastAPI, and React.js. Practically, I learned how to handle unstructured real-world document parsing, build REST APIs, integrate databases using SQLAlchemy, and write unit tests with Pytest. Professionally, I strengthened my problem-solving ability, technical documentation, and academic presentation skills.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project successfully bridges the gap between candidate resumes and job descriptions using Natural Language Processing and Machine Learning. We developed a working system that extracts skills, measures TF-IDF vector similarity, identifies skill gaps, and guides student preparation—all while maintaining data privacy and ethical disclaimers. In the future, we plan to incorporate advanced transformer models like Sentence-BERT for deeper contextual understanding and expand our skill dictionary. I extend my sincere gratitude to InternPe, our department, and my faculty guide Smt. Y. Supriya Reddy ma'am for their constant support. Thank you, and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none">
            <a:spAutoFit/>
          </a:bodyPr>
          <a:lstStyle/>
          <a:p>
            <a:pPr>
              <a:defRPr sz="1100" b="1">
                <a:solidFill>
                  <a:srgbClr val="2563EB"/>
                </a:solidFill>
              </a:defRPr>
            </a:pPr>
            <a:r>
              <a:t>SHORT-TERM INDUSTRY INTERNSHIP REVIEW PRESENTATION</a:t>
            </a:r>
          </a:p>
        </p:txBody>
      </p:sp>
      <p:sp>
        <p:nvSpPr>
          <p:cNvPr id="3" name="TextBox 2"/>
          <p:cNvSpPr txBox="1"/>
          <p:nvPr/>
        </p:nvSpPr>
        <p:spPr>
          <a:xfrm>
            <a:off x="731520" y="731520"/>
            <a:ext cx="10728655" cy="1280160"/>
          </a:xfrm>
          <a:prstGeom prst="rect">
            <a:avLst/>
          </a:prstGeom>
          <a:noFill/>
        </p:spPr>
        <p:txBody>
          <a:bodyPr wrap="square">
            <a:spAutoFit/>
          </a:bodyPr>
          <a:lstStyle/>
          <a:p>
            <a:pPr>
              <a:defRPr sz="3200" b="1">
                <a:solidFill>
                  <a:srgbClr val="1E3A8A"/>
                </a:solidFill>
              </a:defRPr>
            </a:pPr>
            <a:r>
              <a:t>AI-Based Resume Screening and Job Matching System</a:t>
            </a:r>
          </a:p>
        </p:txBody>
      </p:sp>
      <p:sp>
        <p:nvSpPr>
          <p:cNvPr id="4" name="TextBox 3"/>
          <p:cNvSpPr txBox="1"/>
          <p:nvPr/>
        </p:nvSpPr>
        <p:spPr>
          <a:xfrm>
            <a:off x="731520" y="1920240"/>
            <a:ext cx="10728655" cy="457200"/>
          </a:xfrm>
          <a:prstGeom prst="rect">
            <a:avLst/>
          </a:prstGeom>
          <a:noFill/>
        </p:spPr>
        <p:txBody>
          <a:bodyPr wrap="none">
            <a:spAutoFit/>
          </a:bodyPr>
          <a:lstStyle/>
          <a:p>
            <a:pPr>
              <a:defRPr sz="1600" b="1">
                <a:solidFill>
                  <a:srgbClr val="0D9488"/>
                </a:solidFill>
              </a:defRPr>
            </a:pPr>
            <a:r>
              <a:t>Real-Time Machine Learning &amp; Natural Language Processing Project</a:t>
            </a:r>
          </a:p>
        </p:txBody>
      </p:sp>
      <p:sp>
        <p:nvSpPr>
          <p:cNvPr id="5" name="Rounded Rectangle 4"/>
          <p:cNvSpPr/>
          <p:nvPr/>
        </p:nvSpPr>
        <p:spPr>
          <a:xfrm>
            <a:off x="731520" y="2468880"/>
            <a:ext cx="10728655" cy="39319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100" b="1">
                <a:solidFill>
                  <a:srgbClr val="2563EB"/>
                </a:solidFill>
              </a:defRPr>
            </a:pPr>
            <a:r>
              <a:t>INSTITUTION &amp; DEPARTMENT</a:t>
            </a:r>
          </a:p>
          <a:p>
            <a:pPr>
              <a:defRPr sz="1400" b="1">
                <a:solidFill>
                  <a:srgbClr val="1E293B"/>
                </a:solidFill>
              </a:defRPr>
            </a:pPr>
            <a:r>
              <a:t>G. Pulla Reddy Engineering College (Autonomous), Kurnool</a:t>
            </a:r>
          </a:p>
          <a:p>
            <a:pPr>
              <a:spcAft>
                <a:spcPts val="1600"/>
              </a:spcAft>
              <a:defRPr sz="1200">
                <a:solidFill>
                  <a:srgbClr val="475569"/>
                </a:solidFill>
              </a:defRPr>
            </a:pPr>
            <a:r>
              <a:t>Department of Computer Science and Engineering</a:t>
            </a:r>
          </a:p>
          <a:p>
            <a:pPr>
              <a:defRPr sz="1100" b="1">
                <a:solidFill>
                  <a:srgbClr val="2563EB"/>
                </a:solidFill>
              </a:defRPr>
            </a:pPr>
            <a:r>
              <a:t>PRESENTER &amp; REGISTRATION DETAILS</a:t>
            </a:r>
          </a:p>
          <a:p>
            <a:pPr>
              <a:defRPr sz="1300" b="1">
                <a:solidFill>
                  <a:srgbClr val="1E293B"/>
                </a:solidFill>
              </a:defRPr>
            </a:pPr>
            <a:r>
              <a:t>Student Name: Meda Geethika  |  Register Number: 239X1A05D6</a:t>
            </a:r>
          </a:p>
          <a:p>
            <a:pPr>
              <a:spcAft>
                <a:spcPts val="1600"/>
              </a:spcAft>
              <a:defRPr sz="1150">
                <a:solidFill>
                  <a:srgbClr val="475569"/>
                </a:solidFill>
              </a:defRPr>
            </a:pPr>
            <a:r>
              <a:t>Degree: B.Tech – Computer Science and Engineering</a:t>
            </a:r>
          </a:p>
          <a:p>
            <a:pPr>
              <a:defRPr sz="1100" b="1">
                <a:solidFill>
                  <a:srgbClr val="2563EB"/>
                </a:solidFill>
              </a:defRPr>
            </a:pPr>
            <a:r>
              <a:t>INTERNSHIP ORGANIZATION &amp; FACULTY GUIDE</a:t>
            </a:r>
          </a:p>
          <a:p>
            <a:pPr>
              <a:defRPr sz="1150">
                <a:solidFill>
                  <a:srgbClr val="1E293B"/>
                </a:solidFill>
              </a:defRPr>
            </a:pPr>
            <a:r>
              <a:t>Organization: InternPe  |  Domain: Artificial Intelligence / Machine Learning  |  Duration: 8 Weeks (04-05-2026 to 28-06-2026)</a:t>
            </a:r>
          </a:p>
          <a:p>
            <a:pPr>
              <a:defRPr sz="1200" b="1">
                <a:solidFill>
                  <a:srgbClr val="1E3A8A"/>
                </a:solidFill>
              </a:defRPr>
            </a:pPr>
            <a:r>
              <a:t>Faculty Guide: Smt. Y. Supriya Reddy, Assistant Professor, Dept. of CSE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Student &amp; Internship Registration Details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3200400"/>
                <a:gridCol w="7528255"/>
              </a:tblGrid>
              <a:tr h="484632">
                <a:tc>
                  <a:txBody>
                    <a:bodyPr/>
                    <a:lstStyle/>
                    <a:p>
                      <a:pPr>
                        <a:defRPr sz="1100" b="1">
                          <a:solidFill>
                            <a:srgbClr val="1E3A8A"/>
                          </a:solidFill>
                        </a:defRPr>
                      </a:pPr>
                      <a:r>
                        <a:t>Student Name</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Meda Geethika</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Register Number</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239X1A05D6</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Degree &amp; Branch</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B.Tech – Computer Science and Engineering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Institution</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G. Pulla Reddy Engineering College (Autonomous), Kurnool</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Internship Organization</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InternPe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Internship Domain</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Artificial Intelligence / Machine Learning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Internship Title</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Real Time Machine Learning Project Using Python</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Duration &amp; Dates</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8 Weeks (04-05-2026 to 28-06-2026)</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Mode of Internship</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Virtual / Remote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84632">
                <a:tc>
                  <a:txBody>
                    <a:bodyPr/>
                    <a:lstStyle/>
                    <a:p>
                      <a:pPr>
                        <a:defRPr sz="1100" b="1">
                          <a:solidFill>
                            <a:srgbClr val="1E3A8A"/>
                          </a:solidFill>
                        </a:defRPr>
                      </a:pPr>
                      <a:r>
                        <a:t>Faculty Guide</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100">
                          <a:solidFill>
                            <a:srgbClr val="1E293B"/>
                          </a:solidFill>
                        </a:defRPr>
                      </a:pPr>
                      <a:r>
                        <a:t>Smt. Y. Supriya Reddy, Assistant Professor, Dept. of CSE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About Organization &amp; Internship Role</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1E3A8A"/>
                </a:solidFill>
              </a:defRPr>
            </a:pPr>
            <a:r>
              <a:t>About InternPe Organization</a:t>
            </a:r>
          </a:p>
          <a:p>
            <a:pPr>
              <a:spcAft>
                <a:spcPts val="1000"/>
              </a:spcAft>
              <a:defRPr sz="1100">
                <a:solidFill>
                  <a:srgbClr val="1E293B"/>
                </a:solidFill>
              </a:defRPr>
            </a:pPr>
            <a:r>
              <a:t>• Technology &amp; career-development platform specializing in practical engineering skill acquisition.</a:t>
            </a:r>
          </a:p>
          <a:p>
            <a:pPr>
              <a:spcAft>
                <a:spcPts val="1000"/>
              </a:spcAft>
              <a:defRPr sz="1100">
                <a:solidFill>
                  <a:srgbClr val="1E293B"/>
                </a:solidFill>
              </a:defRPr>
            </a:pPr>
            <a:r>
              <a:t>• Provides project-based internship opportunities across Software Development, Data Science, AI and ML.</a:t>
            </a:r>
          </a:p>
          <a:p>
            <a:pPr>
              <a:spcAft>
                <a:spcPts val="1000"/>
              </a:spcAft>
              <a:defRPr sz="1100">
                <a:solidFill>
                  <a:srgbClr val="1E293B"/>
                </a:solidFill>
              </a:defRPr>
            </a:pPr>
            <a:r>
              <a:t>• Focuses on task-oriented learning, Python framework utilization, and modular application development.</a:t>
            </a:r>
          </a:p>
          <a:p>
            <a:pPr>
              <a:spcAft>
                <a:spcPts val="1000"/>
              </a:spcAft>
              <a:defRPr sz="1100">
                <a:solidFill>
                  <a:srgbClr val="1E293B"/>
                </a:solidFill>
              </a:defRPr>
            </a:pPr>
            <a:r>
              <a:t>• Helps students gain hands-on industrial exposure beyond theoretical classroom concepts.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2563EB"/>
                </a:solidFill>
              </a:defRPr>
            </a:pPr>
            <a:r>
              <a:t>My Internship Role &amp; Deliverables</a:t>
            </a:r>
          </a:p>
          <a:p>
            <a:pPr>
              <a:spcAft>
                <a:spcPts val="1000"/>
              </a:spcAft>
              <a:defRPr sz="1100">
                <a:solidFill>
                  <a:srgbClr val="1E293B"/>
                </a:solidFill>
              </a:defRPr>
            </a:pPr>
            <a:r>
              <a:t>• Domain Role: AI / Machine Learning Project Intern.</a:t>
            </a:r>
          </a:p>
          <a:p>
            <a:pPr>
              <a:spcAft>
                <a:spcPts val="1000"/>
              </a:spcAft>
              <a:defRPr sz="1100">
                <a:solidFill>
                  <a:srgbClr val="1E293B"/>
                </a:solidFill>
              </a:defRPr>
            </a:pPr>
            <a:r>
              <a:t>• Project Task: End-to-end design &amp; implementation of an AI-Based Resume Screening &amp; Job Matching System.</a:t>
            </a:r>
          </a:p>
          <a:p>
            <a:pPr>
              <a:spcAft>
                <a:spcPts val="1000"/>
              </a:spcAft>
              <a:defRPr sz="1100">
                <a:solidFill>
                  <a:srgbClr val="1E293B"/>
                </a:solidFill>
              </a:defRPr>
            </a:pPr>
            <a:r>
              <a:t>• Responsibilities: Multi-format document parsing (PDF/DOCX/TXT), NLP text cleaning, TF-IDF vectorization, Cosine Similarity math, skill extraction, and persistent learning roadmaps.</a:t>
            </a:r>
          </a:p>
          <a:p>
            <a:pPr>
              <a:spcAft>
                <a:spcPts val="1000"/>
              </a:spcAft>
              <a:defRPr sz="1100">
                <a:solidFill>
                  <a:srgbClr val="1E293B"/>
                </a:solidFill>
              </a:defRPr>
            </a:pPr>
            <a:r>
              <a:t>• Full-Stack Integration: Connected Python FastAPI REST backend with a modern React.js frontend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Internship Learning Objectives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AI/ML Workflow Mastery</a:t>
            </a:r>
          </a:p>
          <a:p>
            <a:pPr>
              <a:defRPr sz="1000">
                <a:solidFill>
                  <a:srgbClr val="1E293B"/>
                </a:solidFill>
              </a:defRPr>
            </a:pPr>
            <a:r>
              <a:t>Understand the complete Machine Learning lifecycle: Data preprocessing -&gt; Feature engineering -&gt; Model vectorization -&gt; Deployment.</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Data &amp; NLP Preprocessing</a:t>
            </a:r>
          </a:p>
          <a:p>
            <a:pPr>
              <a:defRPr sz="1000">
                <a:solidFill>
                  <a:srgbClr val="1E293B"/>
                </a:solidFill>
              </a:defRPr>
            </a:pPr>
            <a:r>
              <a:t>Learn text tokenization, noise removal, stop-word filtering, and special programming symbol preservation (C++, C#, React.js).</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Mathematical Vectorization</a:t>
            </a:r>
          </a:p>
          <a:p>
            <a:pPr>
              <a:defRPr sz="1000">
                <a:solidFill>
                  <a:srgbClr val="1E293B"/>
                </a:solidFill>
              </a:defRPr>
            </a:pPr>
            <a:r>
              <a:t>Apply TF-IDF N-gram feature representation and Cosine Similarity math to compute text similarity scores.</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Full-Stack System Architecture</a:t>
            </a:r>
          </a:p>
          <a:p>
            <a:pPr>
              <a:defRPr sz="1000">
                <a:solidFill>
                  <a:srgbClr val="1E293B"/>
                </a:solidFill>
              </a:defRPr>
            </a:pPr>
            <a:r>
              <a:t>Connect Python FastAPI REST APIs with an interactive React.js single-page application dashboard.</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Skill-Gap Diagnostics</a:t>
            </a:r>
          </a:p>
          <a:p>
            <a:pPr>
              <a:defRPr sz="1000">
                <a:solidFill>
                  <a:srgbClr val="1E293B"/>
                </a:solidFill>
              </a:defRPr>
            </a:pPr>
            <a:r>
              <a:t>Automate categorization of matched vs missing skills and auto-generate personalized practice learning roadmaps.</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Ethical AI Implementation</a:t>
            </a:r>
          </a:p>
          <a:p>
            <a:pPr>
              <a:defRPr sz="1000">
                <a:solidFill>
                  <a:srgbClr val="1E293B"/>
                </a:solidFill>
              </a:defRPr>
            </a:pPr>
            <a:r>
              <a:t>Design a career diagnostic tool with automated PII privacy masking that avoids automated hiring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Problem Statement &amp; Industry Motivation</a:t>
            </a:r>
          </a:p>
        </p:txBody>
      </p:sp>
      <p:sp>
        <p:nvSpPr>
          <p:cNvPr id="4" name="Rounded Rectangle 3"/>
          <p:cNvSpPr/>
          <p:nvPr/>
        </p:nvSpPr>
        <p:spPr>
          <a:xfrm>
            <a:off x="731520" y="1371600"/>
            <a:ext cx="10728655" cy="1463040"/>
          </a:xfrm>
          <a:prstGeom prst="roundRect">
            <a:avLst/>
          </a:prstGeom>
          <a:solidFill>
            <a:srgbClr val="F8FAFC"/>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spcAft>
                <a:spcPts val="600"/>
              </a:spcAft>
              <a:defRPr sz="1300" b="1">
                <a:solidFill>
                  <a:srgbClr val="D97706"/>
                </a:solidFill>
              </a:defRPr>
            </a:pPr>
            <a:r>
              <a:t>Traditional Manual Screening Flow (Slow &amp; Inconsistent)</a:t>
            </a:r>
          </a:p>
          <a:p>
            <a:pPr>
              <a:spcAft>
                <a:spcPts val="600"/>
              </a:spcAft>
              <a:defRPr sz="1200" b="1">
                <a:solidFill>
                  <a:srgbClr val="1E293B"/>
                </a:solidFill>
              </a:defRPr>
            </a:pPr>
            <a:r>
              <a:t>PDF Resume File  ──&gt;  Manual HR Reading  ──&gt;  Manual Job Spec Comparison  ──&gt;  Inconsistent Skill Extraction</a:t>
            </a:r>
          </a:p>
          <a:p>
            <a:pPr>
              <a:defRPr sz="1000">
                <a:solidFill>
                  <a:srgbClr val="475569"/>
                </a:solidFill>
              </a:defRPr>
            </a:pPr>
            <a:r>
              <a:t>Drawbacks: Time-consuming (30-60s per file), misses multi-word frameworks (React.js, CI/CD), provides zero feedback to candidates.</a:t>
            </a:r>
          </a:p>
        </p:txBody>
      </p:sp>
      <p:sp>
        <p:nvSpPr>
          <p:cNvPr id="5" name="Rounded Rectangle 4"/>
          <p:cNvSpPr/>
          <p:nvPr/>
        </p:nvSpPr>
        <p:spPr>
          <a:xfrm>
            <a:off x="731520" y="3108960"/>
            <a:ext cx="10728655" cy="310896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spcAft>
                <a:spcPts val="1000"/>
              </a:spcAft>
              <a:defRPr sz="1600" b="1">
                <a:solidFill>
                  <a:srgbClr val="1E3A8A"/>
                </a:solidFill>
              </a:defRPr>
            </a:pPr>
            <a:r>
              <a:t>Formal Problem Statement Definition</a:t>
            </a:r>
          </a:p>
          <a:p>
            <a:pPr>
              <a:spcAft>
                <a:spcPts val="1400"/>
              </a:spcAft>
              <a:defRPr sz="1200" i="1">
                <a:solidFill>
                  <a:srgbClr val="1E293B"/>
                </a:solidFill>
              </a:defRPr>
            </a:pPr>
            <a:r>
              <a:t>"Develop an automated NLP/ML-based web application that parses unstructured candidate resumes, compares them against target job descriptions using TF-IDF and Cosine Similarity, highlights matched and missing skills, and provides personalized skill-gap learning recommendations."</a:t>
            </a:r>
          </a:p>
          <a:p>
            <a:pPr>
              <a:spcAft>
                <a:spcPts val="600"/>
              </a:spcAft>
              <a:defRPr sz="1050">
                <a:solidFill>
                  <a:srgbClr val="1E293B"/>
                </a:solidFill>
              </a:defRPr>
            </a:pPr>
            <a:r>
              <a:t>• Automated Multi-Format Ingestion: Read PDF, DOCX, and TXT resumes while masking PII contact details.</a:t>
            </a:r>
          </a:p>
          <a:p>
            <a:pPr>
              <a:spcAft>
                <a:spcPts val="600"/>
              </a:spcAft>
              <a:defRPr sz="1050">
                <a:solidFill>
                  <a:srgbClr val="1E293B"/>
                </a:solidFill>
              </a:defRPr>
            </a:pPr>
            <a:r>
              <a:t>• Mathematical Text Similarity: Use TF-IDF sparse vectors and Cosine Similarity to compute objective similarity.</a:t>
            </a:r>
          </a:p>
          <a:p>
            <a:pPr>
              <a:spcAft>
                <a:spcPts val="600"/>
              </a:spcAft>
              <a:defRPr sz="1050">
                <a:solidFill>
                  <a:srgbClr val="1E293B"/>
                </a:solidFill>
              </a:defRPr>
            </a:pPr>
            <a:r>
              <a:t>• Transparent Skill Identification: Use canonical synonym dictionary lookup to prevent spelling variation penalties.</a:t>
            </a:r>
          </a:p>
          <a:p>
            <a:pPr>
              <a:spcAft>
                <a:spcPts val="600"/>
              </a:spcAft>
              <a:defRPr sz="1050">
                <a:solidFill>
                  <a:srgbClr val="1E293B"/>
                </a:solidFill>
              </a:defRPr>
            </a:pPr>
            <a:r>
              <a:t>• Actionable Student Feedback: Generate practice project roadmaps for missing skills to guide career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Proposed System Overview &amp; Key Capabilities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Multi-Format Ingestion</a:t>
            </a:r>
          </a:p>
          <a:p>
            <a:pPr>
              <a:defRPr sz="1000">
                <a:solidFill>
                  <a:srgbClr val="1E293B"/>
                </a:solidFill>
              </a:defRPr>
            </a:pPr>
            <a:r>
              <a:t>Parses PDF, DOCX, and TXT resumes with PyMuPDF and python-docx, masking candidate emails/phones.</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Token Protection</a:t>
            </a:r>
          </a:p>
          <a:p>
            <a:pPr>
              <a:defRPr sz="1000">
                <a:solidFill>
                  <a:srgbClr val="1E293B"/>
                </a:solidFill>
              </a:defRPr>
            </a:pPr>
            <a:r>
              <a:t>Custom regex preprocessor preserves special programming symbols (C++, C#, .NET, React.js, CI/CD).</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TF-IDF Vector Space</a:t>
            </a:r>
          </a:p>
          <a:p>
            <a:pPr>
              <a:defRPr sz="1000">
                <a:solidFill>
                  <a:srgbClr val="1E293B"/>
                </a:solidFill>
              </a:defRPr>
            </a:pPr>
            <a:r>
              <a:t>Converts text into numerical feature vectors using Scikit-Learn TfidfVectorizer (max_features=5000, ngram_range=(1,2)).</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Cosine Similarity Math</a:t>
            </a:r>
          </a:p>
          <a:p>
            <a:pPr>
              <a:defRPr sz="1000">
                <a:solidFill>
                  <a:srgbClr val="1E293B"/>
                </a:solidFill>
              </a:defRPr>
            </a:pPr>
            <a:r>
              <a:t>Calculates vector angle similarity percentage (0–100%) labeled clearly as a Text Similarity Score.</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Transparent Dictionary</a:t>
            </a:r>
          </a:p>
          <a:p>
            <a:pPr>
              <a:defRPr sz="1000">
                <a:solidFill>
                  <a:srgbClr val="1E293B"/>
                </a:solidFill>
              </a:defRPr>
            </a:pPr>
            <a:r>
              <a:t>Matches phrase boundaries and canonical synonyms (React.js -&gt; React) across 150+ categorized skills.</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Persistent Skill Roadmap</a:t>
            </a:r>
          </a:p>
          <a:p>
            <a:pPr>
              <a:defRPr sz="1000">
                <a:solidFill>
                  <a:srgbClr val="1E293B"/>
                </a:solidFill>
              </a:defRPr>
            </a:pPr>
            <a:r>
              <a:t>Generates practice projects for missing skills with SQLite status tracking (Not Started, In Progress, Completed).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End-to-End System Processing Workflow Flowchart</a:t>
            </a:r>
          </a:p>
        </p:txBody>
      </p:sp>
      <p:sp>
        <p:nvSpPr>
          <p:cNvPr id="4" name="Rounded Rectangle 3"/>
          <p:cNvSpPr/>
          <p:nvPr/>
        </p:nvSpPr>
        <p:spPr>
          <a:xfrm>
            <a:off x="73152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1. Input Resume File</a:t>
            </a:r>
          </a:p>
          <a:p>
            <a:pPr>
              <a:defRPr sz="1000">
                <a:solidFill>
                  <a:srgbClr val="475569"/>
                </a:solidFill>
              </a:defRPr>
            </a:pPr>
            <a:r>
              <a:t>PDF / DOCX / TXT Upload</a:t>
            </a:r>
          </a:p>
        </p:txBody>
      </p:sp>
      <p:sp>
        <p:nvSpPr>
          <p:cNvPr id="5" name="Rounded Rectangle 4"/>
          <p:cNvSpPr/>
          <p:nvPr/>
        </p:nvSpPr>
        <p:spPr>
          <a:xfrm>
            <a:off x="292608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2. Text Extractor</a:t>
            </a:r>
          </a:p>
          <a:p>
            <a:pPr>
              <a:defRPr sz="1000">
                <a:solidFill>
                  <a:srgbClr val="475569"/>
                </a:solidFill>
              </a:defRPr>
            </a:pPr>
            <a:r>
              <a:t>PyMuPDF &amp; python-docx</a:t>
            </a:r>
          </a:p>
        </p:txBody>
      </p:sp>
      <p:sp>
        <p:nvSpPr>
          <p:cNvPr id="6" name="Rounded Rectangle 5"/>
          <p:cNvSpPr/>
          <p:nvPr/>
        </p:nvSpPr>
        <p:spPr>
          <a:xfrm>
            <a:off x="512064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3. PII Privacy Sanitizer</a:t>
            </a:r>
          </a:p>
          <a:p>
            <a:pPr>
              <a:defRPr sz="1000">
                <a:solidFill>
                  <a:srgbClr val="475569"/>
                </a:solidFill>
              </a:defRPr>
            </a:pPr>
            <a:r>
              <a:t>Email / Phone Regex Mask</a:t>
            </a:r>
          </a:p>
        </p:txBody>
      </p:sp>
      <p:sp>
        <p:nvSpPr>
          <p:cNvPr id="7" name="Rounded Rectangle 6"/>
          <p:cNvSpPr/>
          <p:nvPr/>
        </p:nvSpPr>
        <p:spPr>
          <a:xfrm>
            <a:off x="7315199"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4. NLP Preprocessor</a:t>
            </a:r>
          </a:p>
          <a:p>
            <a:pPr>
              <a:defRPr sz="1000">
                <a:solidFill>
                  <a:srgbClr val="475569"/>
                </a:solidFill>
              </a:defRPr>
            </a:pPr>
            <a:r>
              <a:t>Symbol Protection &amp; Clean</a:t>
            </a:r>
          </a:p>
        </p:txBody>
      </p:sp>
      <p:sp>
        <p:nvSpPr>
          <p:cNvPr id="8" name="Rounded Rectangle 7"/>
          <p:cNvSpPr/>
          <p:nvPr/>
        </p:nvSpPr>
        <p:spPr>
          <a:xfrm>
            <a:off x="9509760" y="164592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5. TF-IDF Vectorizer</a:t>
            </a:r>
          </a:p>
          <a:p>
            <a:pPr>
              <a:defRPr sz="1000">
                <a:solidFill>
                  <a:srgbClr val="475569"/>
                </a:solidFill>
              </a:defRPr>
            </a:pPr>
            <a:r>
              <a:t>N-Gram (1,2) Sparse Matrix</a:t>
            </a:r>
          </a:p>
        </p:txBody>
      </p:sp>
      <p:sp>
        <p:nvSpPr>
          <p:cNvPr id="9" name="Rounded Rectangle 8"/>
          <p:cNvSpPr/>
          <p:nvPr/>
        </p:nvSpPr>
        <p:spPr>
          <a:xfrm>
            <a:off x="73152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6. Cosine Similarity</a:t>
            </a:r>
          </a:p>
          <a:p>
            <a:pPr>
              <a:defRPr sz="1000">
                <a:solidFill>
                  <a:srgbClr val="475569"/>
                </a:solidFill>
              </a:defRPr>
            </a:pPr>
            <a:r>
              <a:t>Vector Angle % Calculation</a:t>
            </a:r>
          </a:p>
        </p:txBody>
      </p:sp>
      <p:sp>
        <p:nvSpPr>
          <p:cNvPr id="10" name="Rounded Rectangle 9"/>
          <p:cNvSpPr/>
          <p:nvPr/>
        </p:nvSpPr>
        <p:spPr>
          <a:xfrm>
            <a:off x="292608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7. Skill Extractor</a:t>
            </a:r>
          </a:p>
          <a:p>
            <a:pPr>
              <a:defRPr sz="1000">
                <a:solidFill>
                  <a:srgbClr val="475569"/>
                </a:solidFill>
              </a:defRPr>
            </a:pPr>
            <a:r>
              <a:t>Phrase Boundary Regex</a:t>
            </a:r>
          </a:p>
        </p:txBody>
      </p:sp>
      <p:sp>
        <p:nvSpPr>
          <p:cNvPr id="11" name="Rounded Rectangle 10"/>
          <p:cNvSpPr/>
          <p:nvPr/>
        </p:nvSpPr>
        <p:spPr>
          <a:xfrm>
            <a:off x="512064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8. Gap Generator</a:t>
            </a:r>
          </a:p>
          <a:p>
            <a:pPr>
              <a:defRPr sz="1000">
                <a:solidFill>
                  <a:srgbClr val="475569"/>
                </a:solidFill>
              </a:defRPr>
            </a:pPr>
            <a:r>
              <a:t>Personalized Roadmap</a:t>
            </a:r>
          </a:p>
        </p:txBody>
      </p:sp>
      <p:sp>
        <p:nvSpPr>
          <p:cNvPr id="12" name="Rounded Rectangle 11"/>
          <p:cNvSpPr/>
          <p:nvPr/>
        </p:nvSpPr>
        <p:spPr>
          <a:xfrm>
            <a:off x="7315199"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9. SQLite Database</a:t>
            </a:r>
          </a:p>
          <a:p>
            <a:pPr>
              <a:defRPr sz="1000">
                <a:solidFill>
                  <a:srgbClr val="475569"/>
                </a:solidFill>
              </a:defRPr>
            </a:pPr>
            <a:r>
              <a:t>Analysis &amp; Checklist Tables</a:t>
            </a:r>
          </a:p>
        </p:txBody>
      </p:sp>
      <p:sp>
        <p:nvSpPr>
          <p:cNvPr id="13" name="Rounded Rectangle 12"/>
          <p:cNvSpPr/>
          <p:nvPr/>
        </p:nvSpPr>
        <p:spPr>
          <a:xfrm>
            <a:off x="9509760" y="4023360"/>
            <a:ext cx="1950415" cy="192024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82880"/>
          <a:lstStyle/>
          <a:p>
            <a:pPr algn="ctr">
              <a:spcAft>
                <a:spcPts val="600"/>
              </a:spcAft>
              <a:defRPr sz="1100" b="1">
                <a:solidFill>
                  <a:srgbClr val="1E3A8A"/>
                </a:solidFill>
              </a:defRPr>
            </a:pPr>
            <a:r>
              <a:t>10. React Dashboard</a:t>
            </a:r>
          </a:p>
          <a:p>
            <a:pPr>
              <a:defRPr sz="1000">
                <a:solidFill>
                  <a:srgbClr val="475569"/>
                </a:solidFill>
              </a:defRPr>
            </a:pPr>
            <a:r>
              <a:t>Interactive User 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System Architecture (Layered View)</a:t>
            </a:r>
          </a:p>
        </p:txBody>
      </p:sp>
      <p:sp>
        <p:nvSpPr>
          <p:cNvPr id="4" name="Rounded Rectangle 3"/>
          <p:cNvSpPr/>
          <p:nvPr/>
        </p:nvSpPr>
        <p:spPr>
          <a:xfrm>
            <a:off x="731520" y="1371600"/>
            <a:ext cx="10728655" cy="77724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E3A8A"/>
                </a:solidFill>
              </a:defRPr>
            </a:pPr>
            <a:r>
              <a:t>Presentation Layer (Frontend)</a:t>
            </a:r>
          </a:p>
          <a:p>
            <a:pPr>
              <a:defRPr sz="1000">
                <a:solidFill>
                  <a:srgbClr val="1E293B"/>
                </a:solidFill>
              </a:defRPr>
            </a:pPr>
            <a:r>
              <a:t>React.js 18 + Vite | Tailwind CSS | Glassmorphic UI Dashboard | Recharts Data Charts</a:t>
            </a:r>
          </a:p>
        </p:txBody>
      </p:sp>
      <p:sp>
        <p:nvSpPr>
          <p:cNvPr id="5" name="Rounded Rectangle 4"/>
          <p:cNvSpPr/>
          <p:nvPr/>
        </p:nvSpPr>
        <p:spPr>
          <a:xfrm>
            <a:off x="731520" y="2331720"/>
            <a:ext cx="10728655" cy="77724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2563EB"/>
                </a:solidFill>
              </a:defRPr>
            </a:pPr>
            <a:r>
              <a:t>Application Backend Layer</a:t>
            </a:r>
          </a:p>
          <a:p>
            <a:pPr>
              <a:defRPr sz="1000">
                <a:solidFill>
                  <a:srgbClr val="1E293B"/>
                </a:solidFill>
              </a:defRPr>
            </a:pPr>
            <a:r>
              <a:t>Python FastAPI | Uvicorn Server | REST APIs (/upload, /analyze, /skills, /checklist)</a:t>
            </a:r>
          </a:p>
        </p:txBody>
      </p:sp>
      <p:sp>
        <p:nvSpPr>
          <p:cNvPr id="6" name="Rounded Rectangle 5"/>
          <p:cNvSpPr/>
          <p:nvPr/>
        </p:nvSpPr>
        <p:spPr>
          <a:xfrm>
            <a:off x="731520" y="3291840"/>
            <a:ext cx="10728655" cy="77724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0D9488"/>
                </a:solidFill>
              </a:defRPr>
            </a:pPr>
            <a:r>
              <a:t>Document Parsing &amp; Privacy Layer</a:t>
            </a:r>
          </a:p>
          <a:p>
            <a:pPr>
              <a:defRPr sz="1000">
                <a:solidFill>
                  <a:srgbClr val="1E293B"/>
                </a:solidFill>
              </a:defRPr>
            </a:pPr>
            <a:r>
              <a:t>PyMuPDF (fitz) | python-docx | Regex PII Masking ([CONFIDENTIAL_EMAIL], [CONFIDENTIAL_PHONE])</a:t>
            </a:r>
          </a:p>
        </p:txBody>
      </p:sp>
      <p:sp>
        <p:nvSpPr>
          <p:cNvPr id="7" name="Rounded Rectangle 6"/>
          <p:cNvSpPr/>
          <p:nvPr/>
        </p:nvSpPr>
        <p:spPr>
          <a:xfrm>
            <a:off x="731520" y="4251960"/>
            <a:ext cx="10728655" cy="77724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10B981"/>
                </a:solidFill>
              </a:defRPr>
            </a:pPr>
            <a:r>
              <a:t>NLP &amp; Machine Learning Engine</a:t>
            </a:r>
          </a:p>
          <a:p>
            <a:pPr>
              <a:defRPr sz="1000">
                <a:solidFill>
                  <a:srgbClr val="1E293B"/>
                </a:solidFill>
              </a:defRPr>
            </a:pPr>
            <a:r>
              <a:t>Scikit-Learn TfidfVectorizer | Cosine Similarity Math | Transparent Skill Extractor (skills.json)</a:t>
            </a:r>
          </a:p>
        </p:txBody>
      </p:sp>
      <p:sp>
        <p:nvSpPr>
          <p:cNvPr id="8" name="Rounded Rectangle 7"/>
          <p:cNvSpPr/>
          <p:nvPr/>
        </p:nvSpPr>
        <p:spPr>
          <a:xfrm>
            <a:off x="731520" y="5212080"/>
            <a:ext cx="10728655" cy="77724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spcAft>
                <a:spcPts val="200"/>
              </a:spcAft>
              <a:defRPr sz="1200" b="1">
                <a:solidFill>
                  <a:srgbClr val="D97706"/>
                </a:solidFill>
              </a:defRPr>
            </a:pPr>
            <a:r>
              <a:t>Persistence &amp; Database Layer</a:t>
            </a:r>
          </a:p>
          <a:p>
            <a:pPr>
              <a:defRPr sz="1000">
                <a:solidFill>
                  <a:srgbClr val="1E293B"/>
                </a:solidFill>
              </a:defRPr>
            </a:pPr>
            <a:r>
              <a:t>SQLite3 Relational DB | SQLAlchemy 2.0 ORM (resumes, job_descriptions, analysis_results, checklist_items)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Document Ingestion &amp; PII Privacy Protection Flow</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PDF Ingestion</a:t>
            </a:r>
          </a:p>
          <a:p>
            <a:pPr>
              <a:defRPr sz="1000">
                <a:solidFill>
                  <a:srgbClr val="1E293B"/>
                </a:solidFill>
              </a:defRPr>
            </a:pPr>
            <a:r>
              <a:t>Parsed using PyMuPDF (fitz), extracting text blocks across pages while validating layout integrity.</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DOCX Ingestion</a:t>
            </a:r>
          </a:p>
          <a:p>
            <a:pPr>
              <a:defRPr sz="1000">
                <a:solidFill>
                  <a:srgbClr val="1E293B"/>
                </a:solidFill>
              </a:defRPr>
            </a:pPr>
            <a:r>
              <a:t>Parsed using python-docx, iterating paragraph vectors and data tables.</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TXT Ingestion</a:t>
            </a:r>
          </a:p>
          <a:p>
            <a:pPr>
              <a:defRPr sz="1000">
                <a:solidFill>
                  <a:srgbClr val="1E293B"/>
                </a:solidFill>
              </a:defRPr>
            </a:pPr>
            <a:r>
              <a:t>Direct UTF-8 plain text reader supporting raw resume copy-paste.</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Error Safeguards</a:t>
            </a:r>
          </a:p>
          <a:p>
            <a:pPr>
              <a:defRPr sz="1000">
                <a:solidFill>
                  <a:srgbClr val="1E293B"/>
                </a:solidFill>
              </a:defRPr>
            </a:pPr>
            <a:r>
              <a:t>Catches 0-page or unreadable scanned image PDFs, enforcing 5MB max file limits and 30-char min text thresholds.</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Automated PII Masking</a:t>
            </a:r>
          </a:p>
          <a:p>
            <a:pPr>
              <a:defRPr sz="1000">
                <a:solidFill>
                  <a:srgbClr val="1E293B"/>
                </a:solidFill>
              </a:defRPr>
            </a:pPr>
            <a:r>
              <a:t>Regex sanitization replaces contact details prior to vectorization: Emails -&gt; [CONFIDENTIAL_EMAIL], Phone -&gt; [CONFIDENTIAL_PHONE].</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Privacy Preservation</a:t>
            </a:r>
          </a:p>
          <a:p>
            <a:pPr>
              <a:defRPr sz="1000">
                <a:solidFill>
                  <a:srgbClr val="1E293B"/>
                </a:solidFill>
              </a:defRPr>
            </a:pPr>
            <a:r>
              <a:t>Ensures no candidate contact details are exposed in analysis logs, maintaining ethical AI standards.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NLP Text Preprocessing Pipeline Flowchart</a:t>
            </a:r>
          </a:p>
        </p:txBody>
      </p:sp>
      <p:sp>
        <p:nvSpPr>
          <p:cNvPr id="4" name="Rounded Rectangle 3"/>
          <p:cNvSpPr/>
          <p:nvPr/>
        </p:nvSpPr>
        <p:spPr>
          <a:xfrm>
            <a:off x="731520" y="1371600"/>
            <a:ext cx="10728655" cy="914400"/>
          </a:xfrm>
          <a:prstGeom prst="roundRect">
            <a:avLst/>
          </a:prstGeom>
          <a:solidFill>
            <a:srgbClr val="F8FAFC"/>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1E3A8A"/>
                </a:solidFill>
              </a:defRPr>
            </a:pPr>
            <a:r>
              <a:t>Raw Text Document  ──&gt;  Technical Token Protection  ──&gt;  Case Normalization  ──&gt;  Noise Removal  ──&gt;  Stop-Word Filtering</a:t>
            </a:r>
          </a:p>
        </p:txBody>
      </p:sp>
      <p:sp>
        <p:nvSpPr>
          <p:cNvPr id="5" name="Rounded Rectangle 4"/>
          <p:cNvSpPr/>
          <p:nvPr/>
        </p:nvSpPr>
        <p:spPr>
          <a:xfrm>
            <a:off x="731520" y="2560320"/>
            <a:ext cx="5120640"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1E3A8A"/>
                </a:solidFill>
              </a:defRPr>
            </a:pPr>
            <a:r>
              <a:t>Technical Token Preservation Strategy</a:t>
            </a:r>
          </a:p>
          <a:p>
            <a:pPr>
              <a:spcAft>
                <a:spcPts val="400"/>
              </a:spcAft>
              <a:defRPr sz="1050">
                <a:solidFill>
                  <a:srgbClr val="1E293B"/>
                </a:solidFill>
              </a:defRPr>
            </a:pPr>
            <a:r>
              <a:t>Standard tokenization strips punctuation, destroying programming terms:</a:t>
            </a:r>
          </a:p>
          <a:p>
            <a:pPr>
              <a:spcAft>
                <a:spcPts val="400"/>
              </a:spcAft>
              <a:defRPr sz="1050">
                <a:solidFill>
                  <a:srgbClr val="1E293B"/>
                </a:solidFill>
              </a:defRPr>
            </a:pPr>
            <a:r>
              <a:t>• C++  --&gt;  converted to 'cplusplus'</a:t>
            </a:r>
          </a:p>
          <a:p>
            <a:pPr>
              <a:spcAft>
                <a:spcPts val="400"/>
              </a:spcAft>
              <a:defRPr sz="1050">
                <a:solidFill>
                  <a:srgbClr val="1E293B"/>
                </a:solidFill>
              </a:defRPr>
            </a:pPr>
            <a:r>
              <a:t>• C#   --&gt;  converted to 'csharp'</a:t>
            </a:r>
          </a:p>
          <a:p>
            <a:pPr>
              <a:spcAft>
                <a:spcPts val="400"/>
              </a:spcAft>
              <a:defRPr sz="1050">
                <a:solidFill>
                  <a:srgbClr val="1E293B"/>
                </a:solidFill>
              </a:defRPr>
            </a:pPr>
            <a:r>
              <a:t>• .NET --&gt;  converted to 'dotnet'</a:t>
            </a:r>
          </a:p>
          <a:p>
            <a:pPr>
              <a:spcAft>
                <a:spcPts val="400"/>
              </a:spcAft>
              <a:defRPr sz="1050">
                <a:solidFill>
                  <a:srgbClr val="1E293B"/>
                </a:solidFill>
              </a:defRPr>
            </a:pPr>
            <a:r>
              <a:t>• React.js --&gt; converted to 'reactjs'</a:t>
            </a:r>
          </a:p>
          <a:p>
            <a:pPr>
              <a:spcAft>
                <a:spcPts val="400"/>
              </a:spcAft>
              <a:defRPr sz="1050">
                <a:solidFill>
                  <a:srgbClr val="1E293B"/>
                </a:solidFill>
              </a:defRPr>
            </a:pPr>
            <a:r>
              <a:t>• Node.js  --&gt; converted to 'nodejs'</a:t>
            </a:r>
          </a:p>
          <a:p>
            <a:pPr>
              <a:spcAft>
                <a:spcPts val="400"/>
              </a:spcAft>
              <a:defRPr sz="1050">
                <a:solidFill>
                  <a:srgbClr val="1E293B"/>
                </a:solidFill>
              </a:defRPr>
            </a:pPr>
            <a:r>
              <a:t>• CI/CD   --&gt; converted to 'cicd'</a:t>
            </a:r>
          </a:p>
        </p:txBody>
      </p:sp>
      <p:sp>
        <p:nvSpPr>
          <p:cNvPr id="6" name="Rounded Rectangle 5"/>
          <p:cNvSpPr/>
          <p:nvPr/>
        </p:nvSpPr>
        <p:spPr>
          <a:xfrm>
            <a:off x="6217920" y="2560320"/>
            <a:ext cx="5242255"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2563EB"/>
                </a:solidFill>
              </a:defRPr>
            </a:pPr>
            <a:r>
              <a:t>Pipeline Processing Steps</a:t>
            </a:r>
          </a:p>
          <a:p>
            <a:pPr>
              <a:spcAft>
                <a:spcPts val="800"/>
              </a:spcAft>
              <a:defRPr sz="1050">
                <a:solidFill>
                  <a:srgbClr val="1E293B"/>
                </a:solidFill>
              </a:defRPr>
            </a:pPr>
            <a:r>
              <a:t>1. Case Normalization: Lowercases text for consistent vocabulary matching.</a:t>
            </a:r>
          </a:p>
          <a:p>
            <a:pPr>
              <a:spcAft>
                <a:spcPts val="800"/>
              </a:spcAft>
              <a:defRPr sz="1050">
                <a:solidFill>
                  <a:srgbClr val="1E293B"/>
                </a:solidFill>
              </a:defRPr>
            </a:pPr>
            <a:r>
              <a:t>2. Noise Cleanup: Removes special punctuation while preserving hyphenated/slashed technical tokens.</a:t>
            </a:r>
          </a:p>
          <a:p>
            <a:pPr>
              <a:spcAft>
                <a:spcPts val="800"/>
              </a:spcAft>
              <a:defRPr sz="1050">
                <a:solidFill>
                  <a:srgbClr val="1E293B"/>
                </a:solidFill>
              </a:defRPr>
            </a:pPr>
            <a:r>
              <a:t>3. Stop-Word Removal: Filters high-frequency English stop words (the, and, with) using Scikit-Learn's English dictionary.</a:t>
            </a:r>
          </a:p>
          <a:p>
            <a:pPr>
              <a:spcAft>
                <a:spcPts val="800"/>
              </a:spcAft>
              <a:defRPr sz="1050">
                <a:solidFill>
                  <a:srgbClr val="1E293B"/>
                </a:solidFill>
              </a:defRPr>
            </a:pPr>
            <a:r>
              <a:t>4. Whitespace Collapse: Normalizes extra tabs, newlines, and multi-spaces.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Feature Representation: TF-IDF Vectorization</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E3A8A"/>
                </a:solidFill>
              </a:defRPr>
            </a:pPr>
            <a:r>
              <a:t>TF-IDF Mathematical Formulation</a:t>
            </a:r>
          </a:p>
          <a:p>
            <a:pPr>
              <a:spcAft>
                <a:spcPts val="400"/>
              </a:spcAft>
              <a:defRPr sz="1000">
                <a:solidFill>
                  <a:srgbClr val="1E293B"/>
                </a:solidFill>
              </a:defRPr>
            </a:pPr>
            <a:r>
              <a:t>Term Frequency (TF):</a:t>
            </a:r>
          </a:p>
          <a:p>
            <a:pPr>
              <a:spcAft>
                <a:spcPts val="400"/>
              </a:spcAft>
              <a:defRPr sz="1000">
                <a:solidFill>
                  <a:srgbClr val="1E293B"/>
                </a:solidFill>
              </a:defRPr>
            </a:pPr>
            <a:r>
              <a:t>  TF(t, d) = (Count of term t in d) / (Total terms in d)</a:t>
            </a:r>
          </a:p>
          <a:p>
            <a:pPr>
              <a:spcAft>
                <a:spcPts val="400"/>
              </a:spcAft>
              <a:defRPr sz="1000">
                <a:solidFill>
                  <a:srgbClr val="1E293B"/>
                </a:solidFill>
              </a:defRPr>
            </a:pPr>
          </a:p>
          <a:p>
            <a:pPr>
              <a:spcAft>
                <a:spcPts val="400"/>
              </a:spcAft>
              <a:defRPr sz="1000">
                <a:solidFill>
                  <a:srgbClr val="1E293B"/>
                </a:solidFill>
              </a:defRPr>
            </a:pPr>
            <a:r>
              <a:t>Inverse Document Frequency (IDF):</a:t>
            </a:r>
          </a:p>
          <a:p>
            <a:pPr>
              <a:spcAft>
                <a:spcPts val="400"/>
              </a:spcAft>
              <a:defRPr sz="1000">
                <a:solidFill>
                  <a:srgbClr val="1E293B"/>
                </a:solidFill>
              </a:defRPr>
            </a:pPr>
            <a:r>
              <a:t>  IDF(t, D) = log( (1 + |D|) / (1 + |{d ∈ D : t ∈ d}|) ) + 1</a:t>
            </a:r>
          </a:p>
          <a:p>
            <a:pPr>
              <a:spcAft>
                <a:spcPts val="400"/>
              </a:spcAft>
              <a:defRPr sz="1000">
                <a:solidFill>
                  <a:srgbClr val="1E293B"/>
                </a:solidFill>
              </a:defRPr>
            </a:pPr>
          </a:p>
          <a:p>
            <a:pPr>
              <a:spcAft>
                <a:spcPts val="400"/>
              </a:spcAft>
              <a:defRPr sz="1000">
                <a:solidFill>
                  <a:srgbClr val="1E293B"/>
                </a:solidFill>
              </a:defRPr>
            </a:pPr>
            <a:r>
              <a:t>TF-IDF Score:</a:t>
            </a:r>
          </a:p>
          <a:p>
            <a:pPr>
              <a:spcAft>
                <a:spcPts val="400"/>
              </a:spcAft>
              <a:defRPr sz="1000">
                <a:solidFill>
                  <a:srgbClr val="1E293B"/>
                </a:solidFill>
              </a:defRPr>
            </a:pPr>
            <a:r>
              <a:t>  TF-IDF(t, d, D) = TF(t, d) * IDF(t, D)</a:t>
            </a:r>
          </a:p>
          <a:p>
            <a:pPr>
              <a:spcAft>
                <a:spcPts val="400"/>
              </a:spcAft>
              <a:defRPr sz="1000">
                <a:solidFill>
                  <a:srgbClr val="1E293B"/>
                </a:solidFill>
              </a:defRPr>
            </a:pPr>
          </a:p>
          <a:p>
            <a:pPr>
              <a:spcAft>
                <a:spcPts val="400"/>
              </a:spcAft>
              <a:defRPr sz="1000">
                <a:solidFill>
                  <a:srgbClr val="1E293B"/>
                </a:solidFill>
              </a:defRPr>
            </a:pPr>
            <a:r>
              <a:t>Purpose: Downweights generic words while assigning high numerical weights to rare technical skills.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2563EB"/>
                </a:solidFill>
              </a:defRPr>
            </a:pPr>
            <a:r>
              <a:t>TfidfVectorizer Configuration Parameters</a:t>
            </a:r>
          </a:p>
          <a:p>
            <a:pPr>
              <a:defRPr sz="1100" b="1">
                <a:solidFill>
                  <a:srgbClr val="1E3A8A"/>
                </a:solidFill>
              </a:defRPr>
            </a:pPr>
            <a:r>
              <a:t>max_features = 5000</a:t>
            </a:r>
          </a:p>
          <a:p>
            <a:pPr>
              <a:spcAft>
                <a:spcPts val="800"/>
              </a:spcAft>
              <a:defRPr sz="1000">
                <a:solidFill>
                  <a:srgbClr val="1E293B"/>
                </a:solidFill>
              </a:defRPr>
            </a:pPr>
            <a:r>
              <a:t>Caps vocabulary size to top 5,000 most informative terms, reducing memory footprint and noise.</a:t>
            </a:r>
          </a:p>
          <a:p>
            <a:pPr>
              <a:defRPr sz="1100" b="1">
                <a:solidFill>
                  <a:srgbClr val="1E3A8A"/>
                </a:solidFill>
              </a:defRPr>
            </a:pPr>
            <a:r>
              <a:t>ngram_range = (1, 2)</a:t>
            </a:r>
          </a:p>
          <a:p>
            <a:pPr>
              <a:spcAft>
                <a:spcPts val="800"/>
              </a:spcAft>
              <a:defRPr sz="1000">
                <a:solidFill>
                  <a:srgbClr val="1E293B"/>
                </a:solidFill>
              </a:defRPr>
            </a:pPr>
            <a:r>
              <a:t>Captures single words (unigrams: 'Python') and 2-word phrases (bigrams: 'Machine Learning', 'REST API').</a:t>
            </a:r>
          </a:p>
          <a:p>
            <a:pPr>
              <a:defRPr sz="1100" b="1">
                <a:solidFill>
                  <a:srgbClr val="1E3A8A"/>
                </a:solidFill>
              </a:defRPr>
            </a:pPr>
            <a:r>
              <a:t>sublinear_tf = True</a:t>
            </a:r>
          </a:p>
          <a:p>
            <a:pPr>
              <a:spcAft>
                <a:spcPts val="800"/>
              </a:spcAft>
              <a:defRPr sz="1000">
                <a:solidFill>
                  <a:srgbClr val="1E293B"/>
                </a:solidFill>
              </a:defRPr>
            </a:pPr>
            <a:r>
              <a:t>Applies 1 + log(TF) dampening to prevent excessively repeated keywords from distorting scores.</a:t>
            </a:r>
          </a:p>
          <a:p>
            <a:pPr>
              <a:defRPr sz="1100" b="1">
                <a:solidFill>
                  <a:srgbClr val="1E3A8A"/>
                </a:solidFill>
              </a:defRPr>
            </a:pPr>
            <a:r>
              <a:t>stop_words = 'english'</a:t>
            </a:r>
          </a:p>
          <a:p>
            <a:pPr>
              <a:spcAft>
                <a:spcPts val="800"/>
              </a:spcAft>
              <a:defRPr sz="1000">
                <a:solidFill>
                  <a:srgbClr val="1E293B"/>
                </a:solidFill>
              </a:defRPr>
            </a:pPr>
            <a:r>
              <a:t>Strips high-frequency non-technical words while preserving technical programming symbols.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Cosine Similarity &amp; Jaccard Baseline Score Boundaries</a:t>
            </a:r>
          </a:p>
        </p:txBody>
      </p:sp>
      <p:sp>
        <p:nvSpPr>
          <p:cNvPr id="4" name="Rounded Rectangle 3"/>
          <p:cNvSpPr/>
          <p:nvPr/>
        </p:nvSpPr>
        <p:spPr>
          <a:xfrm>
            <a:off x="731520" y="1371600"/>
            <a:ext cx="10728655" cy="1188720"/>
          </a:xfrm>
          <a:prstGeom prst="roundRect">
            <a:avLst/>
          </a:prstGeom>
          <a:solidFill>
            <a:srgbClr val="F8FAFC"/>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spcAft>
                <a:spcPts val="400"/>
              </a:spcAft>
              <a:defRPr sz="1200" b="1">
                <a:solidFill>
                  <a:srgbClr val="1E3A8A"/>
                </a:solidFill>
              </a:defRPr>
            </a:pPr>
            <a:r>
              <a:t>Cosine Similarity Mathematical Formula:</a:t>
            </a:r>
          </a:p>
          <a:p>
            <a:pPr>
              <a:spcAft>
                <a:spcPts val="200"/>
              </a:spcAft>
              <a:defRPr sz="1100" b="1">
                <a:solidFill>
                  <a:srgbClr val="1E293B"/>
                </a:solidFill>
              </a:defRPr>
            </a:pPr>
            <a:r>
              <a:t>Cosine Sim(A, B) = (A · B) / (||A|| * ||B||) = Σ(Ai * Bi) / ( √(Σ Ai²) * √(Σ Bi²) )</a:t>
            </a:r>
          </a:p>
          <a:p>
            <a:pPr>
              <a:defRPr sz="1000">
                <a:solidFill>
                  <a:srgbClr val="475569"/>
                </a:solidFill>
              </a:defRPr>
            </a:pPr>
            <a:r>
              <a:t>Geometric Angle Intuition: cos(0°) = 1.0 (Identical Vocabulary Angle) | cos(90°) = 0.0 (Orthogonal / No Vocabulary Overlap)</a:t>
            </a:r>
          </a:p>
        </p:txBody>
      </p:sp>
      <p:graphicFrame>
        <p:nvGraphicFramePr>
          <p:cNvPr id="5" name="Table 4"/>
          <p:cNvGraphicFramePr>
            <a:graphicFrameLocks noGrp="1"/>
          </p:cNvGraphicFramePr>
          <p:nvPr/>
        </p:nvGraphicFramePr>
        <p:xfrm>
          <a:off x="731520" y="2743200"/>
          <a:ext cx="10728655" cy="3474720"/>
        </p:xfrm>
        <a:graphic>
          <a:graphicData uri="http://schemas.openxmlformats.org/drawingml/2006/table">
            <a:tbl>
              <a:tblPr firstRow="1" bandRow="1">
                <a:tableStyleId>{5C22544A-7EE6-4342-B048-85BDC9FD1C3A}</a:tableStyleId>
              </a:tblPr>
              <a:tblGrid>
                <a:gridCol w="2286000"/>
                <a:gridCol w="2926080"/>
                <a:gridCol w="5516575"/>
              </a:tblGrid>
              <a:tr h="694944">
                <a:tc>
                  <a:txBody>
                    <a:bodyPr/>
                    <a:lstStyle/>
                    <a:p>
                      <a:pPr>
                        <a:defRPr sz="1000" b="1">
                          <a:solidFill>
                            <a:srgbClr val="1E3A8A"/>
                          </a:solidFill>
                        </a:defRPr>
                      </a:pPr>
                      <a:r>
                        <a:t>Similarity Score Percentage</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Qualitative Match Level</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Interpretation &amp; Actionable Guidance</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694944">
                <a:tc>
                  <a:txBody>
                    <a:bodyPr/>
                    <a:lstStyle/>
                    <a:p>
                      <a:pPr>
                        <a:defRPr sz="950">
                          <a:solidFill>
                            <a:srgbClr val="1E293B"/>
                          </a:solidFill>
                        </a:defRPr>
                      </a:pPr>
                      <a:r>
                        <a:t>80% – 100% Match</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High Similarity</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Strong technical vocabulary alignment across core required skills.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694944">
                <a:tc>
                  <a:txBody>
                    <a:bodyPr/>
                    <a:lstStyle/>
                    <a:p>
                      <a:pPr>
                        <a:defRPr sz="950">
                          <a:solidFill>
                            <a:srgbClr val="1E293B"/>
                          </a:solidFill>
                        </a:defRPr>
                      </a:pPr>
                      <a:r>
                        <a:t>55% – 79% Match</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Moderate Similarity</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Good overall core match; minor skill gaps identified in job specs.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694944">
                <a:tc>
                  <a:txBody>
                    <a:bodyPr/>
                    <a:lstStyle/>
                    <a:p>
                      <a:pPr>
                        <a:defRPr sz="950">
                          <a:solidFill>
                            <a:srgbClr val="1E293B"/>
                          </a:solidFill>
                        </a:defRPr>
                      </a:pPr>
                      <a:r>
                        <a:t>30% – 54% Match</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Fair Similarity</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Partial vocabulary match; critical technical skills are missing.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694944">
                <a:tc>
                  <a:txBody>
                    <a:bodyPr/>
                    <a:lstStyle/>
                    <a:p>
                      <a:pPr>
                        <a:defRPr sz="950">
                          <a:solidFill>
                            <a:srgbClr val="1E293B"/>
                          </a:solidFill>
                        </a:defRPr>
                      </a:pPr>
                      <a:r>
                        <a:t>0% – 29% Match</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Low Similarity</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50">
                          <a:solidFill>
                            <a:srgbClr val="1E293B"/>
                          </a:solidFill>
                        </a:defRPr>
                      </a:pPr>
                      <a:r>
                        <a:t>Significant technical skill gap alignment needed for candidate.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 Extraction &amp; Synonym Mapping Flowchart</a:t>
            </a:r>
          </a:p>
        </p:txBody>
      </p:sp>
      <p:sp>
        <p:nvSpPr>
          <p:cNvPr id="4" name="Rounded Rectangle 3"/>
          <p:cNvSpPr/>
          <p:nvPr/>
        </p:nvSpPr>
        <p:spPr>
          <a:xfrm>
            <a:off x="731520" y="1371600"/>
            <a:ext cx="10728655" cy="914400"/>
          </a:xfrm>
          <a:prstGeom prst="roundRect">
            <a:avLst/>
          </a:prstGeom>
          <a:solidFill>
            <a:srgbClr val="F8FAFC"/>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sz="1200" b="1">
                <a:solidFill>
                  <a:srgbClr val="1E3A8A"/>
                </a:solidFill>
              </a:defRPr>
            </a:pPr>
            <a:r>
              <a:t>Resume &amp; Job Text  ──&gt;  Phrase Boundary Regex  ──&gt;  Canonical Synonym Mapping  ──&gt;  Skill Categorization Output</a:t>
            </a:r>
          </a:p>
        </p:txBody>
      </p:sp>
      <p:sp>
        <p:nvSpPr>
          <p:cNvPr id="5" name="Rounded Rectangle 4"/>
          <p:cNvSpPr/>
          <p:nvPr/>
        </p:nvSpPr>
        <p:spPr>
          <a:xfrm>
            <a:off x="731520" y="2560320"/>
            <a:ext cx="5120640"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1E3A8A"/>
                </a:solidFill>
              </a:defRPr>
            </a:pPr>
            <a:r>
              <a:t>Transparent Skill Catalog (skills.json)</a:t>
            </a:r>
          </a:p>
          <a:p>
            <a:pPr>
              <a:spcAft>
                <a:spcPts val="600"/>
              </a:spcAft>
              <a:defRPr sz="1000">
                <a:solidFill>
                  <a:srgbClr val="1E293B"/>
                </a:solidFill>
              </a:defRPr>
            </a:pPr>
            <a:r>
              <a:t>150+ Categorized Technical Skills across 6 domain areas:</a:t>
            </a:r>
          </a:p>
          <a:p>
            <a:pPr>
              <a:spcAft>
                <a:spcPts val="600"/>
              </a:spcAft>
              <a:defRPr sz="1000">
                <a:solidFill>
                  <a:srgbClr val="1E293B"/>
                </a:solidFill>
              </a:defRPr>
            </a:pPr>
            <a:r>
              <a:t>• Programming Languages (Python, JavaScript, Java, C++, SQL)</a:t>
            </a:r>
          </a:p>
          <a:p>
            <a:pPr>
              <a:spcAft>
                <a:spcPts val="600"/>
              </a:spcAft>
              <a:defRPr sz="1000">
                <a:solidFill>
                  <a:srgbClr val="1E293B"/>
                </a:solidFill>
              </a:defRPr>
            </a:pPr>
            <a:r>
              <a:t>• Frameworks &amp; Libraries (React, Node.js, FastAPI, Express.js)</a:t>
            </a:r>
          </a:p>
          <a:p>
            <a:pPr>
              <a:spcAft>
                <a:spcPts val="600"/>
              </a:spcAft>
              <a:defRPr sz="1000">
                <a:solidFill>
                  <a:srgbClr val="1E293B"/>
                </a:solidFill>
              </a:defRPr>
            </a:pPr>
            <a:r>
              <a:t>• Databases &amp; Storage (PostgreSQL, MongoDB, Redis, SQLite)</a:t>
            </a:r>
          </a:p>
          <a:p>
            <a:pPr>
              <a:spcAft>
                <a:spcPts val="600"/>
              </a:spcAft>
              <a:defRPr sz="1000">
                <a:solidFill>
                  <a:srgbClr val="1E293B"/>
                </a:solidFill>
              </a:defRPr>
            </a:pPr>
            <a:r>
              <a:t>• Tools, Cloud &amp; DevOps (Git, Docker, Kubernetes, AWS, Linux)</a:t>
            </a:r>
          </a:p>
          <a:p>
            <a:pPr>
              <a:spcAft>
                <a:spcPts val="600"/>
              </a:spcAft>
              <a:defRPr sz="1000">
                <a:solidFill>
                  <a:srgbClr val="1E293B"/>
                </a:solidFill>
              </a:defRPr>
            </a:pPr>
            <a:r>
              <a:t>• Computer Science &amp; ML (DSA, NLP, Machine Learning, OOP)</a:t>
            </a:r>
          </a:p>
          <a:p>
            <a:pPr>
              <a:spcAft>
                <a:spcPts val="600"/>
              </a:spcAft>
              <a:defRPr sz="1000">
                <a:solidFill>
                  <a:srgbClr val="1E293B"/>
                </a:solidFill>
              </a:defRPr>
            </a:pPr>
            <a:r>
              <a:t>• Soft Skills (Problem Solving, Teamwork, Communication)</a:t>
            </a:r>
          </a:p>
        </p:txBody>
      </p:sp>
      <p:sp>
        <p:nvSpPr>
          <p:cNvPr id="6" name="Rounded Rectangle 5"/>
          <p:cNvSpPr/>
          <p:nvPr/>
        </p:nvSpPr>
        <p:spPr>
          <a:xfrm>
            <a:off x="6217920" y="2560320"/>
            <a:ext cx="5242255" cy="3657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000"/>
              </a:spcAft>
              <a:defRPr sz="1400" b="1">
                <a:solidFill>
                  <a:srgbClr val="2563EB"/>
                </a:solidFill>
              </a:defRPr>
            </a:pPr>
            <a:r>
              <a:t>Extraction &amp; Synonym Mapping Engine</a:t>
            </a:r>
          </a:p>
          <a:p>
            <a:pPr>
              <a:defRPr sz="1050" b="1">
                <a:solidFill>
                  <a:srgbClr val="1E3A8A"/>
                </a:solidFill>
              </a:defRPr>
            </a:pPr>
            <a:r>
              <a:t>Phrase Boundary Regex Matching:</a:t>
            </a:r>
          </a:p>
          <a:p>
            <a:pPr>
              <a:spcAft>
                <a:spcPts val="600"/>
              </a:spcAft>
              <a:defRPr sz="950">
                <a:solidFill>
                  <a:srgbClr val="1E293B"/>
                </a:solidFill>
              </a:defRPr>
            </a:pPr>
            <a:r>
              <a:t>Uses (?:_x0008_|_)&lt;term&gt;(?:_x0008_|_) to prevent false substring matches (e.g. Java inside JavaScript).</a:t>
            </a:r>
          </a:p>
          <a:p>
            <a:pPr>
              <a:defRPr sz="1050" b="1">
                <a:solidFill>
                  <a:srgbClr val="1E3A8A"/>
                </a:solidFill>
              </a:defRPr>
            </a:pPr>
            <a:r>
              <a:t>Canonical Synonym Normalization:</a:t>
            </a:r>
          </a:p>
          <a:p>
            <a:pPr>
              <a:spcAft>
                <a:spcPts val="600"/>
              </a:spcAft>
              <a:defRPr sz="950">
                <a:solidFill>
                  <a:srgbClr val="1E293B"/>
                </a:solidFill>
              </a:defRPr>
            </a:pPr>
            <a:r>
              <a:t>Maps variations to standard skill names (React.js / ReactJS / React JS -&gt; React).</a:t>
            </a:r>
          </a:p>
          <a:p>
            <a:pPr>
              <a:defRPr sz="1050" b="1">
                <a:solidFill>
                  <a:srgbClr val="1E3A8A"/>
                </a:solidFill>
              </a:defRPr>
            </a:pPr>
            <a:r>
              <a:t>Categorization Output:</a:t>
            </a:r>
          </a:p>
          <a:p>
            <a:pPr>
              <a:spcAft>
                <a:spcPts val="600"/>
              </a:spcAft>
              <a:defRPr sz="950">
                <a:solidFill>
                  <a:srgbClr val="1E293B"/>
                </a:solidFill>
              </a:defRPr>
            </a:pPr>
            <a:r>
              <a:t>• Matched Skills: Present in both resume &amp; job spec.</a:t>
            </a:r>
            <a:br/>
            <a:r>
              <a:t>• Missing Skills: Required by job spec but missing from resume.</a:t>
            </a:r>
            <a:br/>
            <a:r>
              <a:t>• Resume-Only Skills: Additional skills candidate possesses.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 Gap Analysis &amp; Personalized Learning Roadmap</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1645920"/>
                <a:gridCol w="2011680"/>
                <a:gridCol w="4144975"/>
                <a:gridCol w="1280160"/>
                <a:gridCol w="1645920"/>
              </a:tblGrid>
              <a:tr h="969264">
                <a:tc>
                  <a:txBody>
                    <a:bodyPr/>
                    <a:lstStyle/>
                    <a:p>
                      <a:pPr>
                        <a:defRPr sz="1000" b="1">
                          <a:solidFill>
                            <a:srgbClr val="1E3A8A"/>
                          </a:solidFill>
                        </a:defRPr>
                      </a:pPr>
                      <a:r>
                        <a:t>Missing Skill</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Relevance Context</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Suggested Practice Project Exercise</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Level</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Status Tracking</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969264">
                <a:tc>
                  <a:txBody>
                    <a:bodyPr/>
                    <a:lstStyle/>
                    <a:p>
                      <a:pPr>
                        <a:defRPr sz="900">
                          <a:solidFill>
                            <a:srgbClr val="1E293B"/>
                          </a:solidFill>
                        </a:defRPr>
                      </a:pPr>
                      <a:r>
                        <a:t>Docker</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Containerization tool requested for microservice execution.</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Build multi-stage Dockerfiles for FastAPI &amp; React with Docker Compose.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Intermediate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[In Progress]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969264">
                <a:tc>
                  <a:txBody>
                    <a:bodyPr/>
                    <a:lstStyle/>
                    <a:p>
                      <a:pPr>
                        <a:defRPr sz="900">
                          <a:solidFill>
                            <a:srgbClr val="1E293B"/>
                          </a:solidFill>
                        </a:defRPr>
                      </a:pPr>
                      <a:r>
                        <a:t>Kubernetes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Container orchestration framework for cluster deployment.</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Deploy containerized app on local Minikube cluster with YAML manifests.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Advanced</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[Not Started]</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969264">
                <a:tc>
                  <a:txBody>
                    <a:bodyPr/>
                    <a:lstStyle/>
                    <a:p>
                      <a:pPr>
                        <a:defRPr sz="900">
                          <a:solidFill>
                            <a:srgbClr val="1E293B"/>
                          </a:solidFill>
                        </a:defRPr>
                      </a:pPr>
                      <a:r>
                        <a:t>CI/CD</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Continuous integration pipeline framework requested.</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Create GitHub Actions workflow for automated pytest regression checks.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Intermediate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[Completed]</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969264">
                <a:tc>
                  <a:txBody>
                    <a:bodyPr/>
                    <a:lstStyle/>
                    <a:p>
                      <a:pPr>
                        <a:defRPr sz="900">
                          <a:solidFill>
                            <a:srgbClr val="1E293B"/>
                          </a:solidFill>
                        </a:defRPr>
                      </a:pPr>
                      <a:r>
                        <a:t>PostgreSQL</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Enterprise relational database required for data querying.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Design PostgreSQL relational schema with index tuning and JOIN queries.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Intermediate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[Not Started]</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Modular System Backend Implementation</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app/utils/parser.py</a:t>
            </a:r>
          </a:p>
          <a:p>
            <a:pPr>
              <a:defRPr sz="1000">
                <a:solidFill>
                  <a:srgbClr val="1E293B"/>
                </a:solidFill>
              </a:defRPr>
            </a:pPr>
            <a:r>
              <a:t>Extracts text from PDF, DOCX, and TXT files. Sanitizes PII contact info automatically.</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app/ml/preprocessing.py</a:t>
            </a:r>
          </a:p>
          <a:p>
            <a:pPr>
              <a:defRPr sz="1000">
                <a:solidFill>
                  <a:srgbClr val="1E293B"/>
                </a:solidFill>
              </a:defRPr>
            </a:pPr>
            <a:r>
              <a:t>Preserves technical symbols (C++, C#, .NET, React.js) and cleans text noise.</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app/ml/vectorizer.py</a:t>
            </a:r>
          </a:p>
          <a:p>
            <a:pPr>
              <a:defRPr sz="1000">
                <a:solidFill>
                  <a:srgbClr val="1E293B"/>
                </a:solidFill>
              </a:defRPr>
            </a:pPr>
            <a:r>
              <a:t>Wraps Scikit-Learn TfidfVectorizer (ngram_range=(1,2), max_features=5000).</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app/ml/similarity.py</a:t>
            </a:r>
          </a:p>
          <a:p>
            <a:pPr>
              <a:defRPr sz="1000">
                <a:solidFill>
                  <a:srgbClr val="1E293B"/>
                </a:solidFill>
              </a:defRPr>
            </a:pPr>
            <a:r>
              <a:t>Computes Cosine Similarity and Jaccard Keyword Overlap baseline scores.</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app/ml/skill_extractor.py</a:t>
            </a:r>
          </a:p>
          <a:p>
            <a:pPr>
              <a:defRPr sz="1000">
                <a:solidFill>
                  <a:srgbClr val="1E293B"/>
                </a:solidFill>
              </a:defRPr>
            </a:pPr>
            <a:r>
              <a:t>Executes phrase boundary regex matching against skills.json catalog.</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app/ml/pipeline.py</a:t>
            </a:r>
          </a:p>
          <a:p>
            <a:pPr>
              <a:defRPr sz="1000">
                <a:solidFill>
                  <a:srgbClr val="1E293B"/>
                </a:solidFill>
              </a:defRPr>
            </a:pPr>
            <a:r>
              <a:t>Master orchestrator unifying parsing, ML vectorization, skill gaps, and roadmaps.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Technology Stack &amp; Development Tools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286000"/>
                <a:gridCol w="2926080"/>
                <a:gridCol w="5516575"/>
              </a:tblGrid>
              <a:tr h="440574">
                <a:tc>
                  <a:txBody>
                    <a:bodyPr/>
                    <a:lstStyle/>
                    <a:p>
                      <a:pPr>
                        <a:defRPr sz="1000" b="1">
                          <a:solidFill>
                            <a:srgbClr val="1E3A8A"/>
                          </a:solidFill>
                        </a:defRPr>
                      </a:pPr>
                      <a:r>
                        <a:t>Layer / Category</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Technology / Tool</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Purpose in Project Implementation</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Programming Language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Python 3.14</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Core backend application logic, ML modeling, and text processing.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ML / NLP Libraries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Scikit-Learn</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TfidfVectorizer and cosine_similarity computation.</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Data Processing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Pandas &amp; NumPy</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Data array operations, matrix manipulation, and evaluation metrics.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Document Parsers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PyMuPDF (fitz) &amp; python-docx</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Extracting raw text from PDF and DOCX resume uploads.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Model Persistence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Joblib</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Serialization and joblib persistence of fitted TF-IDF models.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Backend Web Framework</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FastAPI &amp; Uvicorn</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High-performance asynchronous REST API backend server.</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Database &amp; ORM</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SQLite3 &amp; SQLAlchemy 2.0</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Persistent relational database storage for history and checklists.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Frontend Framework</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React.js 18 &amp; Vite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Single-page responsive user dashboard interface.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74">
                <a:tc>
                  <a:txBody>
                    <a:bodyPr/>
                    <a:lstStyle/>
                    <a:p>
                      <a:pPr>
                        <a:defRPr sz="900">
                          <a:solidFill>
                            <a:srgbClr val="1E293B"/>
                          </a:solidFill>
                        </a:defRPr>
                      </a:pPr>
                      <a:r>
                        <a:t>Styling &amp; Icons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Tailwind CSS &amp; Lucide Icons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Glassmorphic visual styling, custom cards, and dark theme UI.</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440580">
                <a:tc>
                  <a:txBody>
                    <a:bodyPr/>
                    <a:lstStyle/>
                    <a:p>
                      <a:pPr>
                        <a:defRPr sz="900">
                          <a:solidFill>
                            <a:srgbClr val="1E293B"/>
                          </a:solidFill>
                        </a:defRPr>
                      </a:pPr>
                      <a:r>
                        <a:t>Automated Testing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Pytest &amp; HTTPX</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Unit and integration testing suite for parsers, pipeline, and APIs.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Application Dashboard &amp; Interface Panels</a:t>
            </a:r>
          </a:p>
        </p:txBody>
      </p:sp>
      <p:sp>
        <p:nvSpPr>
          <p:cNvPr id="4" name="Rounded Rectangle 3"/>
          <p:cNvSpPr/>
          <p:nvPr/>
        </p:nvSpPr>
        <p:spPr>
          <a:xfrm>
            <a:off x="7315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1. Dual-Pane Analysis Engine</a:t>
            </a:r>
          </a:p>
          <a:p>
            <a:pPr>
              <a:defRPr sz="1000">
                <a:solidFill>
                  <a:srgbClr val="1E293B"/>
                </a:solidFill>
              </a:defRPr>
            </a:pPr>
            <a:r>
              <a:t>Upload resume file (PDF/DOCX/TXT) or paste text alongside target job description specs with quick demo data loader.</a:t>
            </a:r>
          </a:p>
        </p:txBody>
      </p:sp>
      <p:sp>
        <p:nvSpPr>
          <p:cNvPr id="5" name="Rounded Rectangle 4"/>
          <p:cNvSpPr/>
          <p:nvPr/>
        </p:nvSpPr>
        <p:spPr>
          <a:xfrm>
            <a:off x="43891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2. Radial Similarity Gauge</a:t>
            </a:r>
          </a:p>
          <a:p>
            <a:pPr>
              <a:defRPr sz="1000">
                <a:solidFill>
                  <a:srgbClr val="1E293B"/>
                </a:solidFill>
              </a:defRPr>
            </a:pPr>
            <a:r>
              <a:t>Visual circular SVG gauge displaying TF-IDF Cosine Match percentage, level, and Jaccard baseline readout.</a:t>
            </a:r>
          </a:p>
        </p:txBody>
      </p:sp>
      <p:sp>
        <p:nvSpPr>
          <p:cNvPr id="6" name="Rounded Rectangle 5"/>
          <p:cNvSpPr/>
          <p:nvPr/>
        </p:nvSpPr>
        <p:spPr>
          <a:xfrm>
            <a:off x="8046720" y="137160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3. Categorized Skill Badges</a:t>
            </a:r>
          </a:p>
          <a:p>
            <a:pPr>
              <a:defRPr sz="1000">
                <a:solidFill>
                  <a:srgbClr val="1E293B"/>
                </a:solidFill>
              </a:defRPr>
            </a:pPr>
            <a:r>
              <a:t>Interactive skill badges using Green (Matched), Amber (Missing Gaps), and Blue (Extra Resume Skills).</a:t>
            </a:r>
          </a:p>
        </p:txBody>
      </p:sp>
      <p:sp>
        <p:nvSpPr>
          <p:cNvPr id="7" name="Rounded Rectangle 6"/>
          <p:cNvSpPr/>
          <p:nvPr/>
        </p:nvSpPr>
        <p:spPr>
          <a:xfrm>
            <a:off x="7315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4. Personalized Skill Roadmap</a:t>
            </a:r>
          </a:p>
          <a:p>
            <a:pPr>
              <a:defRPr sz="1000">
                <a:solidFill>
                  <a:srgbClr val="1E293B"/>
                </a:solidFill>
              </a:defRPr>
            </a:pPr>
            <a:r>
              <a:t>Actionable practice project table for missing skills with interactive status buttons (Not Started, In Progress, Completed).</a:t>
            </a:r>
          </a:p>
        </p:txBody>
      </p:sp>
      <p:sp>
        <p:nvSpPr>
          <p:cNvPr id="8" name="Rounded Rectangle 7"/>
          <p:cNvSpPr/>
          <p:nvPr/>
        </p:nvSpPr>
        <p:spPr>
          <a:xfrm>
            <a:off x="43891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5. SQLite History Log</a:t>
            </a:r>
          </a:p>
          <a:p>
            <a:pPr>
              <a:defRPr sz="1000">
                <a:solidFill>
                  <a:srgbClr val="1E293B"/>
                </a:solidFill>
              </a:defRPr>
            </a:pPr>
            <a:r>
              <a:t>Searchable history log table storing past analysis runs with detail view modal and single-click deletion.</a:t>
            </a:r>
          </a:p>
        </p:txBody>
      </p:sp>
      <p:sp>
        <p:nvSpPr>
          <p:cNvPr id="9" name="Rounded Rectangle 8"/>
          <p:cNvSpPr/>
          <p:nvPr/>
        </p:nvSpPr>
        <p:spPr>
          <a:xfrm>
            <a:off x="8046720" y="3931920"/>
            <a:ext cx="3413455"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spcAft>
                <a:spcPts val="800"/>
              </a:spcAft>
              <a:defRPr sz="1300" b="1">
                <a:solidFill>
                  <a:srgbClr val="1E3A8A"/>
                </a:solidFill>
              </a:defRPr>
            </a:pPr>
            <a:r>
              <a:t>6. Model Evaluation Page</a:t>
            </a:r>
          </a:p>
          <a:p>
            <a:pPr>
              <a:defRPr sz="1000">
                <a:solidFill>
                  <a:srgbClr val="1E293B"/>
                </a:solidFill>
              </a:defRPr>
            </a:pPr>
            <a:r>
              <a:t>Hyperparameter documentation, benchmark baseline comparison, precision/recall metrics, and limitations.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Challenges Encountered &amp; Technical Solutions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926080"/>
                <a:gridCol w="3200400"/>
                <a:gridCol w="4602175"/>
              </a:tblGrid>
              <a:tr h="807720">
                <a:tc>
                  <a:txBody>
                    <a:bodyPr/>
                    <a:lstStyle/>
                    <a:p>
                      <a:pPr>
                        <a:defRPr sz="1000" b="1">
                          <a:solidFill>
                            <a:srgbClr val="1E3A8A"/>
                          </a:solidFill>
                        </a:defRPr>
                      </a:pPr>
                      <a:r>
                        <a:t>Challenge Encountered</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Technical Approach</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1000" b="1">
                          <a:solidFill>
                            <a:srgbClr val="1E3A8A"/>
                          </a:solidFill>
                        </a:defRPr>
                      </a:pPr>
                      <a:r>
                        <a:t>Implemented Solution</a:t>
                      </a:r>
                    </a:p>
                  </a:txBody>
                  <a:tcPr>
                    <a:solidFill>
                      <a:srgbClr val="F8FAFC"/>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807720">
                <a:tc>
                  <a:txBody>
                    <a:bodyPr/>
                    <a:lstStyle/>
                    <a:p>
                      <a:pPr>
                        <a:defRPr sz="900">
                          <a:solidFill>
                            <a:srgbClr val="1E293B"/>
                          </a:solidFill>
                        </a:defRPr>
                      </a:pPr>
                      <a:r>
                        <a:t>Special Symbol Destruction</a:t>
                      </a:r>
                      <a:br/>
                      <a:r>
                        <a:t>Regex strips +, # from C++, C#, .NET</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Technical Token Preservation</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Built pre-tokenization regex mapper converting C++ -&gt; cplusplus, C# -&gt; csharp, .NET -&gt; dotnet.</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807720">
                <a:tc>
                  <a:txBody>
                    <a:bodyPr/>
                    <a:lstStyle/>
                    <a:p>
                      <a:pPr>
                        <a:defRPr sz="900">
                          <a:solidFill>
                            <a:srgbClr val="1E293B"/>
                          </a:solidFill>
                        </a:defRPr>
                      </a:pPr>
                      <a:r>
                        <a:t>Synonym Phrasing Variance</a:t>
                      </a:r>
                      <a:br/>
                      <a:r>
                        <a:t>Candidates write React.js vs React</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Canonical Dictionary Mapping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Created skills.json catalog mapping variations (React.js, ReactJS) to standard skill React.</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807720">
                <a:tc>
                  <a:txBody>
                    <a:bodyPr/>
                    <a:lstStyle/>
                    <a:p>
                      <a:pPr>
                        <a:defRPr sz="900">
                          <a:solidFill>
                            <a:srgbClr val="1E293B"/>
                          </a:solidFill>
                        </a:defRPr>
                      </a:pPr>
                      <a:r>
                        <a:t>Unreadable Image PDFs</a:t>
                      </a:r>
                      <a:br/>
                      <a:r>
                        <a:t>Scanned image PDFs extract 0 text</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Exception Safeguards &amp; Validation</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Implemented 0-character page detection returning clear diagnostic guidance.</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807720">
                <a:tc>
                  <a:txBody>
                    <a:bodyPr/>
                    <a:lstStyle/>
                    <a:p>
                      <a:pPr>
                        <a:defRPr sz="900">
                          <a:solidFill>
                            <a:srgbClr val="1E293B"/>
                          </a:solidFill>
                        </a:defRPr>
                      </a:pPr>
                      <a:r>
                        <a:t>Candidate PII Exposure</a:t>
                      </a:r>
                      <a:br/>
                      <a:r>
                        <a:t>Storing emails/phones exposes PII</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Automated Privacy Masking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Built regex sanitization replacing emails, phone numbers, and URLs with placeholders.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r h="807720">
                <a:tc>
                  <a:txBody>
                    <a:bodyPr/>
                    <a:lstStyle/>
                    <a:p>
                      <a:pPr>
                        <a:defRPr sz="900">
                          <a:solidFill>
                            <a:srgbClr val="1E293B"/>
                          </a:solidFill>
                        </a:defRPr>
                      </a:pPr>
                      <a:r>
                        <a:t>Over-fitting Keyword Counts</a:t>
                      </a:r>
                      <a:br/>
                      <a:r>
                        <a:t>Repeated keywords distort scores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Sublinear TF Dampening</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c>
                  <a:txBody>
                    <a:bodyPr/>
                    <a:lstStyle/>
                    <a:p>
                      <a:pPr>
                        <a:defRPr sz="900">
                          <a:solidFill>
                            <a:srgbClr val="1E293B"/>
                          </a:solidFill>
                        </a:defRPr>
                      </a:pPr>
                      <a:r>
                        <a:t>Configured Scikit-Learn sublinear_tf=True (1 + log(TF)) to dampen term frequencies.</a:t>
                      </a:r>
                    </a:p>
                  </a:txBody>
                  <a:tcPr>
                    <a:solidFill>
                      <a:srgbClr val="FFFFFF"/>
                    </a:solidFill>
                    <a:lnL w="19050" cmpd="s">
                      <a:solidFill>
                        <a:srgbClr val="000000"/>
                      </a:solidFill>
                    </a:lnL>
                    <a:lnR w="19050" cmpd="s">
                      <a:solidFill>
                        <a:srgbClr val="000000"/>
                      </a:solidFill>
                    </a:lnR>
                    <a:lnT w="19050" cmpd="s">
                      <a:solidFill>
                        <a:srgbClr val="000000"/>
                      </a:solidFill>
                    </a:lnT>
                    <a:lnB w="19050" cmpd="s">
                      <a:solidFill>
                        <a:srgbClr val="000000"/>
                      </a:solidFill>
                    </a:lnB>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Skills Acquired &amp; Internship Learning Outcomes</a:t>
            </a:r>
          </a:p>
        </p:txBody>
      </p:sp>
      <p:sp>
        <p:nvSpPr>
          <p:cNvPr id="4" name="Rounded Rectangle 3"/>
          <p:cNvSpPr/>
          <p:nvPr/>
        </p:nvSpPr>
        <p:spPr>
          <a:xfrm>
            <a:off x="731520" y="1371600"/>
            <a:ext cx="3413455" cy="4846320"/>
          </a:xfrm>
          <a:prstGeom prst="roundRect">
            <a:avLst/>
          </a:prstGeom>
          <a:solidFill>
            <a:srgbClr val="F8FA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1E3A8A"/>
                </a:solidFill>
              </a:defRPr>
            </a:pPr>
            <a:r>
              <a:t>Technical Mastery</a:t>
            </a:r>
          </a:p>
          <a:p>
            <a:pPr>
              <a:spcAft>
                <a:spcPts val="800"/>
              </a:spcAft>
              <a:defRPr sz="1000">
                <a:solidFill>
                  <a:srgbClr val="1E293B"/>
                </a:solidFill>
              </a:defRPr>
            </a:pPr>
            <a:r>
              <a:t>• Python 3.14 advanced scripting &amp; module design</a:t>
            </a:r>
          </a:p>
          <a:p>
            <a:pPr>
              <a:spcAft>
                <a:spcPts val="800"/>
              </a:spcAft>
              <a:defRPr sz="1000">
                <a:solidFill>
                  <a:srgbClr val="1E293B"/>
                </a:solidFill>
              </a:defRPr>
            </a:pPr>
            <a:r>
              <a:t>• Scikit-Learn TF-IDF vectorization &amp; Cosine math</a:t>
            </a:r>
          </a:p>
          <a:p>
            <a:pPr>
              <a:spcAft>
                <a:spcPts val="800"/>
              </a:spcAft>
              <a:defRPr sz="1000">
                <a:solidFill>
                  <a:srgbClr val="1E293B"/>
                </a:solidFill>
              </a:defRPr>
            </a:pPr>
            <a:r>
              <a:t>• Natural Language Processing (tokenization, cleaning)</a:t>
            </a:r>
          </a:p>
          <a:p>
            <a:pPr>
              <a:spcAft>
                <a:spcPts val="800"/>
              </a:spcAft>
              <a:defRPr sz="1000">
                <a:solidFill>
                  <a:srgbClr val="1E293B"/>
                </a:solidFill>
              </a:defRPr>
            </a:pPr>
            <a:r>
              <a:t>• FastAPI REST API design &amp; Pydantic validation</a:t>
            </a:r>
          </a:p>
          <a:p>
            <a:pPr>
              <a:spcAft>
                <a:spcPts val="800"/>
              </a:spcAft>
              <a:defRPr sz="1000">
                <a:solidFill>
                  <a:srgbClr val="1E293B"/>
                </a:solidFill>
              </a:defRPr>
            </a:pPr>
            <a:r>
              <a:t>• React.js 18 frontend dashboard development</a:t>
            </a:r>
          </a:p>
        </p:txBody>
      </p:sp>
      <p:sp>
        <p:nvSpPr>
          <p:cNvPr id="5" name="Rounded Rectangle 4"/>
          <p:cNvSpPr/>
          <p:nvPr/>
        </p:nvSpPr>
        <p:spPr>
          <a:xfrm>
            <a:off x="4389120" y="1371600"/>
            <a:ext cx="3413455"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2563EB"/>
                </a:solidFill>
              </a:defRPr>
            </a:pPr>
            <a:r>
              <a:t>Practical Engineering</a:t>
            </a:r>
          </a:p>
          <a:p>
            <a:pPr>
              <a:spcAft>
                <a:spcPts val="800"/>
              </a:spcAft>
              <a:defRPr sz="1000">
                <a:solidFill>
                  <a:srgbClr val="1E293B"/>
                </a:solidFill>
              </a:defRPr>
            </a:pPr>
            <a:r>
              <a:t>• Complete Machine Learning lifecycle execution</a:t>
            </a:r>
          </a:p>
          <a:p>
            <a:pPr>
              <a:spcAft>
                <a:spcPts val="800"/>
              </a:spcAft>
              <a:defRPr sz="1000">
                <a:solidFill>
                  <a:srgbClr val="1E293B"/>
                </a:solidFill>
              </a:defRPr>
            </a:pPr>
            <a:r>
              <a:t>• Unstructured PDF/DOCX document parsing</a:t>
            </a:r>
          </a:p>
          <a:p>
            <a:pPr>
              <a:spcAft>
                <a:spcPts val="800"/>
              </a:spcAft>
              <a:defRPr sz="1000">
                <a:solidFill>
                  <a:srgbClr val="1E293B"/>
                </a:solidFill>
              </a:defRPr>
            </a:pPr>
            <a:r>
              <a:t>• SQLite relational database design &amp; SQLAlchemy ORM</a:t>
            </a:r>
          </a:p>
          <a:p>
            <a:pPr>
              <a:spcAft>
                <a:spcPts val="800"/>
              </a:spcAft>
              <a:defRPr sz="1000">
                <a:solidFill>
                  <a:srgbClr val="1E293B"/>
                </a:solidFill>
              </a:defRPr>
            </a:pPr>
            <a:r>
              <a:t>• Automated unit testing with Pytest (12/12 passed)</a:t>
            </a:r>
          </a:p>
          <a:p>
            <a:pPr>
              <a:spcAft>
                <a:spcPts val="800"/>
              </a:spcAft>
              <a:defRPr sz="1000">
                <a:solidFill>
                  <a:srgbClr val="1E293B"/>
                </a:solidFill>
              </a:defRPr>
            </a:pPr>
            <a:r>
              <a:t>• PII privacy protection implementation</a:t>
            </a:r>
          </a:p>
        </p:txBody>
      </p:sp>
      <p:sp>
        <p:nvSpPr>
          <p:cNvPr id="6" name="Rounded Rectangle 5"/>
          <p:cNvSpPr/>
          <p:nvPr/>
        </p:nvSpPr>
        <p:spPr>
          <a:xfrm>
            <a:off x="8046720" y="1371600"/>
            <a:ext cx="3413455" cy="484632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200"/>
              </a:spcAft>
              <a:defRPr sz="1400" b="1">
                <a:solidFill>
                  <a:srgbClr val="0D9488"/>
                </a:solidFill>
              </a:defRPr>
            </a:pPr>
            <a:r>
              <a:t>Professional Skills</a:t>
            </a:r>
          </a:p>
          <a:p>
            <a:pPr>
              <a:spcAft>
                <a:spcPts val="800"/>
              </a:spcAft>
              <a:defRPr sz="1000">
                <a:solidFill>
                  <a:srgbClr val="1E293B"/>
                </a:solidFill>
              </a:defRPr>
            </a:pPr>
            <a:r>
              <a:t>• Analytical thinking &amp; problem solving</a:t>
            </a:r>
          </a:p>
          <a:p>
            <a:pPr>
              <a:spcAft>
                <a:spcPts val="800"/>
              </a:spcAft>
              <a:defRPr sz="1000">
                <a:solidFill>
                  <a:srgbClr val="1E293B"/>
                </a:solidFill>
              </a:defRPr>
            </a:pPr>
            <a:r>
              <a:t>• Systematic software debugging &amp; testing</a:t>
            </a:r>
          </a:p>
          <a:p>
            <a:pPr>
              <a:spcAft>
                <a:spcPts val="800"/>
              </a:spcAft>
              <a:defRPr sz="1000">
                <a:solidFill>
                  <a:srgbClr val="1E293B"/>
                </a:solidFill>
              </a:defRPr>
            </a:pPr>
            <a:r>
              <a:t>• Technical documentation &amp; API design</a:t>
            </a:r>
          </a:p>
          <a:p>
            <a:pPr>
              <a:spcAft>
                <a:spcPts val="800"/>
              </a:spcAft>
              <a:defRPr sz="1000">
                <a:solidFill>
                  <a:srgbClr val="1E293B"/>
                </a:solidFill>
              </a:defRPr>
            </a:pPr>
            <a:r>
              <a:t>• Academic presentation &amp; viva defense</a:t>
            </a:r>
          </a:p>
          <a:p>
            <a:pPr>
              <a:spcAft>
                <a:spcPts val="800"/>
              </a:spcAft>
              <a:defRPr sz="1000">
                <a:solidFill>
                  <a:srgbClr val="1E293B"/>
                </a:solidFill>
              </a:defRPr>
            </a:pPr>
            <a:r>
              <a:t>• Ethical AI guidelines implementation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square">
            <a:spAutoFit/>
          </a:bodyPr>
          <a:lstStyle/>
          <a:p>
            <a:pPr>
              <a:defRPr sz="2200" b="1">
                <a:solidFill>
                  <a:srgbClr val="1E3A8A"/>
                </a:solidFill>
              </a:defRPr>
            </a:pPr>
            <a:r>
              <a:t>Conclusion &amp; Future Enhancements</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1E3A8A"/>
                </a:solidFill>
              </a:defRPr>
            </a:pPr>
            <a:r>
              <a:t>Project Conclusion Summary</a:t>
            </a:r>
          </a:p>
          <a:p>
            <a:pPr>
              <a:spcAft>
                <a:spcPts val="800"/>
              </a:spcAft>
              <a:defRPr sz="1000">
                <a:solidFill>
                  <a:srgbClr val="1E293B"/>
                </a:solidFill>
              </a:defRPr>
            </a:pPr>
            <a:r>
              <a:t>• Developed and verified an AI-Based Resume Screening and Job Matching System.</a:t>
            </a:r>
          </a:p>
          <a:p>
            <a:pPr>
              <a:spcAft>
                <a:spcPts val="800"/>
              </a:spcAft>
              <a:defRPr sz="1000">
                <a:solidFill>
                  <a:srgbClr val="1E293B"/>
                </a:solidFill>
              </a:defRPr>
            </a:pPr>
            <a:r>
              <a:t>• Applied TF-IDF vectorization and Cosine Similarity to compute text similarity scores.</a:t>
            </a:r>
          </a:p>
          <a:p>
            <a:pPr>
              <a:spcAft>
                <a:spcPts val="800"/>
              </a:spcAft>
              <a:defRPr sz="1000">
                <a:solidFill>
                  <a:srgbClr val="1E293B"/>
                </a:solidFill>
              </a:defRPr>
            </a:pPr>
            <a:r>
              <a:t>• Created a transparent skill catalog dictionary supporting phrase boundary regex and canonical synonyms.</a:t>
            </a:r>
          </a:p>
          <a:p>
            <a:pPr>
              <a:spcAft>
                <a:spcPts val="800"/>
              </a:spcAft>
              <a:defRPr sz="1000">
                <a:solidFill>
                  <a:srgbClr val="1E293B"/>
                </a:solidFill>
              </a:defRPr>
            </a:pPr>
            <a:r>
              <a:t>• Built an interactive skill-gap learning roadmap with persistent SQLite status tracking.</a:t>
            </a:r>
          </a:p>
          <a:p>
            <a:pPr>
              <a:spcAft>
                <a:spcPts val="800"/>
              </a:spcAft>
              <a:defRPr sz="1000">
                <a:solidFill>
                  <a:srgbClr val="1E293B"/>
                </a:solidFill>
              </a:defRPr>
            </a:pPr>
            <a:r>
              <a:t>• Achieved 100% test pass rate across 12 automated Pytest unit and integration tests.</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spcAft>
                <a:spcPts val="1200"/>
              </a:spcAft>
              <a:defRPr sz="1500" b="1">
                <a:solidFill>
                  <a:srgbClr val="2563EB"/>
                </a:solidFill>
              </a:defRPr>
            </a:pPr>
            <a:r>
              <a:t>Future Scope &amp; Enhancements</a:t>
            </a:r>
          </a:p>
          <a:p>
            <a:pPr>
              <a:spcAft>
                <a:spcPts val="800"/>
              </a:spcAft>
              <a:defRPr sz="1000">
                <a:solidFill>
                  <a:srgbClr val="1E293B"/>
                </a:solidFill>
              </a:defRPr>
            </a:pPr>
            <a:r>
              <a:t>• Semantic Transformer Integration: Incorporate Sentence-BERT (all-MiniLM-L6-v2) embeddings for deep contextual similarity.</a:t>
            </a:r>
          </a:p>
          <a:p>
            <a:pPr>
              <a:spcAft>
                <a:spcPts val="800"/>
              </a:spcAft>
              <a:defRPr sz="1000">
                <a:solidFill>
                  <a:srgbClr val="1E293B"/>
                </a:solidFill>
              </a:defRPr>
            </a:pPr>
            <a:r>
              <a:t>• Negation Detection: Add dependency parsing to recognize phrases like 'not familiar with Docker'.</a:t>
            </a:r>
          </a:p>
          <a:p>
            <a:pPr>
              <a:spcAft>
                <a:spcPts val="800"/>
              </a:spcAft>
              <a:defRPr sz="1000">
                <a:solidFill>
                  <a:srgbClr val="1E293B"/>
                </a:solidFill>
              </a:defRPr>
            </a:pPr>
            <a:r>
              <a:t>• Expanded Skill Catalog: Broaden skill dictionary across specialized engineering domains.</a:t>
            </a:r>
          </a:p>
          <a:p>
            <a:pPr>
              <a:spcAft>
                <a:spcPts val="800"/>
              </a:spcAft>
              <a:defRPr sz="1000">
                <a:solidFill>
                  <a:srgbClr val="1E293B"/>
                </a:solidFill>
              </a:defRPr>
            </a:pPr>
            <a:r>
              <a:t>• Cloud Hosting: Deploy FastAPI backend to Render/Koyeb and React frontend to Vercel/Netlify for 24/7 public access.</a:t>
            </a:r>
          </a:p>
          <a:p>
            <a:br/>
            <a:pPr>
              <a:defRPr sz="1200" b="1">
                <a:solidFill>
                  <a:srgbClr val="1E3A8A"/>
                </a:solidFill>
              </a:defRPr>
            </a:pPr>
            <a:r>
              <a:t>THANK YOU!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