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Respected evaluators and my faculty guide Smt. Y. Supriya Reddy ma'am, good morning. I am Meda Geethika (239X1A05D6), B.Tech CSE student at G. Pulla Reddy Engineering College. Today I present my short-term internship review on 'AI-Based Resume Screening and Job Matching System' completed at InternPe in the AI/ML domain.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table details my official internship registration parameters. Completed over 8 weeks with InternPe under academic guidance of Smt. Y. Supriya Reddy ma'am.</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InternPe provided hands-on project exposure. My role encompassed the complete ML pipeline from text parsing to web interface deployment.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6 objectives structured my 8-week engineering goal, ensuring theoretical concepts were translated into a working application.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compares traditional manual screening against our proposed ML/NLP approach, emphasizing objective matching and skill gap guidance.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flowchart details the 7 sequential stages from raw document ingestion to vector matching and recommendation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Layered architecture cleanly separates frontend presentation, FastAPI routing, core ML processing, and SQLite storage.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Preprocessing transforms noisy document text into clean, structured tokens ready for TF-IDF vectorization.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TF-IDF converts text into sparse numerical vectors, and Cosine Similarity measures the angular distance between candidate skills and job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 normalization resolves alias variations so equivalent candidate qualifications are correctly matched.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Skill gap analysis turns match scores into constructive learning roadmaps for student skill enhancement.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TF-IDF with Cosine Similarity provides the optimal balance of execution speed, term weighting, and transparent scoring for real-time applications.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Full-stack implementation combines Python FastAPI backend performance with React frontend interactivity.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matrix summarizes core system modules and corresponding technology stack choices.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technical challenges arose during development and were resolved through custom preprocessing logic.</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System verification confirmed robust matching behavior across exact, partial, and unrelated document pairs.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Screenshot 1 shows the React upload screen supporting drag-and-drop PDF/DOCX resumes and instant text preview.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Screenshot 2 displays the dual-pane editor showing match score percentage, matched skills badge, and missing skills breakdown.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Screenshot 3 demonstrates the interactive skill roadmap where students can toggle learning tasks between Not Started, In Progress, and Completed.</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Screenshot 4 displays the SQLite history table storing prior analyses with timestamps and similarity scores. In conclusion, this internship project successfully bridges candidate resumes and job descriptions using NLP and ML.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65760"/>
          </a:xfrm>
          <a:prstGeom prst="rect">
            <a:avLst/>
          </a:prstGeom>
          <a:noFill/>
        </p:spPr>
        <p:txBody>
          <a:bodyPr wrap="none">
            <a:spAutoFit/>
          </a:bodyPr>
          <a:lstStyle/>
          <a:p>
            <a:pPr>
              <a:defRPr sz="1100" b="1">
                <a:solidFill>
                  <a:srgbClr val="2563EB"/>
                </a:solidFill>
              </a:defRPr>
            </a:pPr>
            <a:r>
              <a:t>SHORT-TERM INDUSTRY INTERNSHIP REVIEW PRESENTATION</a:t>
            </a:r>
          </a:p>
        </p:txBody>
      </p:sp>
      <p:sp>
        <p:nvSpPr>
          <p:cNvPr id="3" name="TextBox 2"/>
          <p:cNvSpPr txBox="1"/>
          <p:nvPr/>
        </p:nvSpPr>
        <p:spPr>
          <a:xfrm>
            <a:off x="731520" y="731520"/>
            <a:ext cx="10728655" cy="1280160"/>
          </a:xfrm>
          <a:prstGeom prst="rect">
            <a:avLst/>
          </a:prstGeom>
          <a:noFill/>
        </p:spPr>
        <p:txBody>
          <a:bodyPr wrap="square">
            <a:spAutoFit/>
          </a:bodyPr>
          <a:lstStyle/>
          <a:p>
            <a:pPr>
              <a:defRPr sz="3200" b="1">
                <a:solidFill>
                  <a:srgbClr val="1E3A8A"/>
                </a:solidFill>
              </a:defRPr>
            </a:pPr>
            <a:r>
              <a:t>AI-Based Resume Screening and Job Matching System</a:t>
            </a:r>
          </a:p>
        </p:txBody>
      </p:sp>
      <p:sp>
        <p:nvSpPr>
          <p:cNvPr id="4" name="TextBox 3"/>
          <p:cNvSpPr txBox="1"/>
          <p:nvPr/>
        </p:nvSpPr>
        <p:spPr>
          <a:xfrm>
            <a:off x="731520" y="1920240"/>
            <a:ext cx="10728655" cy="457200"/>
          </a:xfrm>
          <a:prstGeom prst="rect">
            <a:avLst/>
          </a:prstGeom>
          <a:noFill/>
        </p:spPr>
        <p:txBody>
          <a:bodyPr wrap="none">
            <a:spAutoFit/>
          </a:bodyPr>
          <a:lstStyle/>
          <a:p>
            <a:pPr>
              <a:defRPr sz="1600" b="1">
                <a:solidFill>
                  <a:srgbClr val="0D9488"/>
                </a:solidFill>
              </a:defRPr>
            </a:pPr>
            <a:r>
              <a:t>Real-Time Machine Learning &amp; Natural Language Processing Project</a:t>
            </a:r>
          </a:p>
        </p:txBody>
      </p:sp>
      <p:sp>
        <p:nvSpPr>
          <p:cNvPr id="5" name="Rounded Rectangle 4"/>
          <p:cNvSpPr/>
          <p:nvPr/>
        </p:nvSpPr>
        <p:spPr>
          <a:xfrm>
            <a:off x="731520" y="2468880"/>
            <a:ext cx="10728655" cy="39319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100" b="1">
                <a:solidFill>
                  <a:srgbClr val="2563EB"/>
                </a:solidFill>
              </a:defRPr>
            </a:pPr>
            <a:r>
              <a:t>INSTITUTION &amp; DEPARTMENT</a:t>
            </a:r>
          </a:p>
          <a:p>
            <a:pPr>
              <a:defRPr sz="1400" b="1">
                <a:solidFill>
                  <a:srgbClr val="1E293B"/>
                </a:solidFill>
              </a:defRPr>
            </a:pPr>
            <a:r>
              <a:t>G. Pulla Reddy Engineering College (Autonomous), Kurnool</a:t>
            </a:r>
          </a:p>
          <a:p>
            <a:pPr>
              <a:spcAft>
                <a:spcPts val="1600"/>
              </a:spcAft>
              <a:defRPr sz="1200">
                <a:solidFill>
                  <a:srgbClr val="475569"/>
                </a:solidFill>
              </a:defRPr>
            </a:pPr>
            <a:r>
              <a:t>Department of Computer Science and Engineering</a:t>
            </a:r>
          </a:p>
          <a:p>
            <a:pPr>
              <a:defRPr sz="1100" b="1">
                <a:solidFill>
                  <a:srgbClr val="2563EB"/>
                </a:solidFill>
              </a:defRPr>
            </a:pPr>
            <a:r>
              <a:t>PRESENTER &amp; REGISTRATION DETAILS</a:t>
            </a:r>
          </a:p>
          <a:p>
            <a:pPr>
              <a:defRPr sz="1300" b="1">
                <a:solidFill>
                  <a:srgbClr val="1E293B"/>
                </a:solidFill>
              </a:defRPr>
            </a:pPr>
            <a:r>
              <a:t>Student Name: Meda Geethika  |  Register Number: 239X1A05D6</a:t>
            </a:r>
          </a:p>
          <a:p>
            <a:pPr>
              <a:spcAft>
                <a:spcPts val="1600"/>
              </a:spcAft>
              <a:defRPr sz="1150">
                <a:solidFill>
                  <a:srgbClr val="475569"/>
                </a:solidFill>
              </a:defRPr>
            </a:pPr>
            <a:r>
              <a:t>Degree: B.Tech – Computer Science and Engineering</a:t>
            </a:r>
          </a:p>
          <a:p>
            <a:pPr>
              <a:defRPr sz="1100" b="1">
                <a:solidFill>
                  <a:srgbClr val="2563EB"/>
                </a:solidFill>
              </a:defRPr>
            </a:pPr>
            <a:r>
              <a:t>INTERNSHIP ORGANIZATION &amp; FACULTY GUIDE</a:t>
            </a:r>
          </a:p>
          <a:p>
            <a:pPr>
              <a:defRPr sz="1150">
                <a:solidFill>
                  <a:srgbClr val="1E293B"/>
                </a:solidFill>
              </a:defRPr>
            </a:pPr>
            <a:r>
              <a:t>Organization: InternPe  |  Domain: Artificial Intelligence / Machine Learning  |  Duration: 8 Weeks (04-05-2026 to 28-06-2026)</a:t>
            </a:r>
          </a:p>
          <a:p>
            <a:pPr>
              <a:defRPr sz="1200" b="1">
                <a:solidFill>
                  <a:srgbClr val="1E3A8A"/>
                </a:solidFill>
              </a:defRPr>
            </a:pPr>
            <a:r>
              <a:t>Faculty Guide: Smt. Y. Supriya Reddy, Assistant Professor, Dept. of CSE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Student &amp; Internship Registration Details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3200400"/>
                <a:gridCol w="7528255"/>
              </a:tblGrid>
              <a:tr h="484632">
                <a:tc>
                  <a:txBody>
                    <a:bodyPr/>
                    <a:lstStyle/>
                    <a:p>
                      <a:pPr>
                        <a:defRPr sz="1100" b="1">
                          <a:solidFill>
                            <a:srgbClr val="1E3A8A"/>
                          </a:solidFill>
                        </a:defRPr>
                      </a:pPr>
                      <a:r>
                        <a:t>Student Name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Meda Geethika</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Register Number</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239X1A05D6</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Degree &amp; Branch</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B.Tech – Computer Science and Engineering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Institution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G. Pulla Reddy Engineering College (Autonomous), Kurnool</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Organization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InternPe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Domain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Artificial Intelligence / Machine Learning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Internship Title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Real Time Machine Learning Project Using Python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Duration &amp; Dates</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8 Weeks (04-05-2026 to 28-06-2026)</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Mode of Internship</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Virtual / Remote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484632">
                <a:tc>
                  <a:txBody>
                    <a:bodyPr/>
                    <a:lstStyle/>
                    <a:p>
                      <a:pPr>
                        <a:defRPr sz="1100" b="1">
                          <a:solidFill>
                            <a:srgbClr val="1E3A8A"/>
                          </a:solidFill>
                        </a:defRPr>
                      </a:pPr>
                      <a:r>
                        <a:t>Faculty Guide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a:solidFill>
                            <a:srgbClr val="1E293B"/>
                          </a:solidFill>
                        </a:defRPr>
                      </a:pPr>
                      <a:r>
                        <a:t>Smt. Y. Supriya Reddy, Assistant Professor, Dept. of CSE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About Organization &amp; Internship Role</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1E3A8A"/>
                </a:solidFill>
              </a:defRPr>
            </a:pPr>
            <a:r>
              <a:t>About InternPe Organization</a:t>
            </a:r>
          </a:p>
          <a:p>
            <a:pPr>
              <a:spcAft>
                <a:spcPts val="1000"/>
              </a:spcAft>
              <a:defRPr sz="1150">
                <a:solidFill>
                  <a:srgbClr val="1E293B"/>
                </a:solidFill>
              </a:defRPr>
            </a:pPr>
            <a:r>
              <a:t>• Technology platform focusing on practical, project-based engineering skill enhancement.</a:t>
            </a:r>
          </a:p>
          <a:p>
            <a:pPr>
              <a:spcAft>
                <a:spcPts val="1000"/>
              </a:spcAft>
              <a:defRPr sz="1150">
                <a:solidFill>
                  <a:srgbClr val="1E293B"/>
                </a:solidFill>
              </a:defRPr>
            </a:pPr>
            <a:r>
              <a:t>• Offers remote internships in Software Development, Data Science, AI, and Machine Learning.</a:t>
            </a:r>
          </a:p>
          <a:p>
            <a:pPr>
              <a:spcAft>
                <a:spcPts val="1000"/>
              </a:spcAft>
              <a:defRPr sz="1150">
                <a:solidFill>
                  <a:srgbClr val="1E293B"/>
                </a:solidFill>
              </a:defRPr>
            </a:pPr>
            <a:r>
              <a:t>• Emphasizes task-oriented learning, Python framework application, and full-stack integration.</a:t>
            </a:r>
          </a:p>
        </p:txBody>
      </p:sp>
      <p:sp>
        <p:nvSpPr>
          <p:cNvPr id="5" name="Rounded Rectangle 4"/>
          <p:cNvSpPr/>
          <p:nvPr/>
        </p:nvSpPr>
        <p:spPr>
          <a:xfrm>
            <a:off x="6217920" y="1371600"/>
            <a:ext cx="52422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spcAft>
                <a:spcPts val="1400"/>
              </a:spcAft>
              <a:defRPr sz="1600" b="1">
                <a:solidFill>
                  <a:srgbClr val="1E3A8A"/>
                </a:solidFill>
              </a:defRPr>
            </a:pPr>
            <a:r>
              <a:t>My Role &amp; Internship Responsibilities</a:t>
            </a:r>
          </a:p>
          <a:p>
            <a:pPr>
              <a:spcAft>
                <a:spcPts val="1000"/>
              </a:spcAft>
              <a:defRPr sz="1150">
                <a:solidFill>
                  <a:srgbClr val="1E293B"/>
                </a:solidFill>
              </a:defRPr>
            </a:pPr>
            <a:r>
              <a:t>• AI/ML Engineer Intern: Designed end-to-end NLP data pipelines and machine learning algorithms.</a:t>
            </a:r>
          </a:p>
          <a:p>
            <a:pPr>
              <a:spcAft>
                <a:spcPts val="1000"/>
              </a:spcAft>
              <a:defRPr sz="1150">
                <a:solidFill>
                  <a:srgbClr val="1E293B"/>
                </a:solidFill>
              </a:defRPr>
            </a:pPr>
            <a:r>
              <a:t>• Built document extraction modules using PyMuPDF and python-docx for PDF/DOCX resume parsing.</a:t>
            </a:r>
          </a:p>
          <a:p>
            <a:pPr>
              <a:spcAft>
                <a:spcPts val="1000"/>
              </a:spcAft>
              <a:defRPr sz="1150">
                <a:solidFill>
                  <a:srgbClr val="1E293B"/>
                </a:solidFill>
              </a:defRPr>
            </a:pPr>
            <a:r>
              <a:t>• Implemented TF-IDF feature engineering, Cosine Similarity matching engine, and FastAPI REST endpoints.</a:t>
            </a:r>
          </a:p>
          <a:p>
            <a:pPr>
              <a:spcAft>
                <a:spcPts val="1000"/>
              </a:spcAft>
              <a:defRPr sz="1150">
                <a:solidFill>
                  <a:srgbClr val="1E293B"/>
                </a:solidFill>
              </a:defRPr>
            </a:pPr>
            <a:r>
              <a:t>• Developed React.js interactive frontend dashboard and SQLite history persistence.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Internship Learning Objectives &amp; Technical Goals</a:t>
            </a:r>
          </a:p>
        </p:txBody>
      </p:sp>
      <p:sp>
        <p:nvSpPr>
          <p:cNvPr id="4" name="Rounded Rectangle 3"/>
          <p:cNvSpPr/>
          <p:nvPr/>
        </p:nvSpPr>
        <p:spPr>
          <a:xfrm>
            <a:off x="731520" y="137160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1. Master ML Pipeline</a:t>
            </a:r>
          </a:p>
          <a:p>
            <a:pPr>
              <a:spcBef>
                <a:spcPts val="600"/>
              </a:spcBef>
              <a:defRPr sz="1050">
                <a:solidFill>
                  <a:srgbClr val="1E293B"/>
                </a:solidFill>
              </a:defRPr>
            </a:pPr>
            <a:r>
              <a:t>Understand complete end-to-end workflow from unstructured text parsing to TF-IDF feature vector creation.</a:t>
            </a:r>
          </a:p>
        </p:txBody>
      </p:sp>
      <p:sp>
        <p:nvSpPr>
          <p:cNvPr id="5" name="Rounded Rectangle 4"/>
          <p:cNvSpPr/>
          <p:nvPr/>
        </p:nvSpPr>
        <p:spPr>
          <a:xfrm>
            <a:off x="4343400" y="137160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2. NLP Text Processing</a:t>
            </a:r>
          </a:p>
          <a:p>
            <a:pPr>
              <a:spcBef>
                <a:spcPts val="600"/>
              </a:spcBef>
              <a:defRPr sz="1050">
                <a:solidFill>
                  <a:srgbClr val="1E293B"/>
                </a:solidFill>
              </a:defRPr>
            </a:pPr>
            <a:r>
              <a:t>Apply text cleaning, tokenization, stop-word filtering, and synonym dictionary mapping.</a:t>
            </a:r>
          </a:p>
        </p:txBody>
      </p:sp>
      <p:sp>
        <p:nvSpPr>
          <p:cNvPr id="6" name="Rounded Rectangle 5"/>
          <p:cNvSpPr/>
          <p:nvPr/>
        </p:nvSpPr>
        <p:spPr>
          <a:xfrm>
            <a:off x="7955280" y="137160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3. Mathematical Matching</a:t>
            </a:r>
          </a:p>
          <a:p>
            <a:pPr>
              <a:spcBef>
                <a:spcPts val="600"/>
              </a:spcBef>
              <a:defRPr sz="1050">
                <a:solidFill>
                  <a:srgbClr val="1E293B"/>
                </a:solidFill>
              </a:defRPr>
            </a:pPr>
            <a:r>
              <a:t>Implement Cosine Similarity to quantitatively measure vector alignment between resume and job description.</a:t>
            </a:r>
          </a:p>
        </p:txBody>
      </p:sp>
      <p:sp>
        <p:nvSpPr>
          <p:cNvPr id="7" name="Rounded Rectangle 6"/>
          <p:cNvSpPr/>
          <p:nvPr/>
        </p:nvSpPr>
        <p:spPr>
          <a:xfrm>
            <a:off x="731520" y="384048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4. Gap &amp; Roadmap Engine</a:t>
            </a:r>
          </a:p>
          <a:p>
            <a:pPr>
              <a:spcBef>
                <a:spcPts val="600"/>
              </a:spcBef>
              <a:defRPr sz="1050">
                <a:solidFill>
                  <a:srgbClr val="1E293B"/>
                </a:solidFill>
              </a:defRPr>
            </a:pPr>
            <a:r>
              <a:t>Extract missing candidate skills and map actionable learning recommendations for career growth.</a:t>
            </a:r>
          </a:p>
        </p:txBody>
      </p:sp>
      <p:sp>
        <p:nvSpPr>
          <p:cNvPr id="8" name="Rounded Rectangle 7"/>
          <p:cNvSpPr/>
          <p:nvPr/>
        </p:nvSpPr>
        <p:spPr>
          <a:xfrm>
            <a:off x="4343400" y="384048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5. REST API Integration</a:t>
            </a:r>
          </a:p>
          <a:p>
            <a:pPr>
              <a:spcBef>
                <a:spcPts val="600"/>
              </a:spcBef>
              <a:defRPr sz="1050">
                <a:solidFill>
                  <a:srgbClr val="1E293B"/>
                </a:solidFill>
              </a:defRPr>
            </a:pPr>
            <a:r>
              <a:t>Build FastAPI backend endpoints for document parsing, scoring, and history logging.</a:t>
            </a:r>
          </a:p>
        </p:txBody>
      </p:sp>
      <p:sp>
        <p:nvSpPr>
          <p:cNvPr id="9" name="Rounded Rectangle 8"/>
          <p:cNvSpPr/>
          <p:nvPr/>
        </p:nvSpPr>
        <p:spPr>
          <a:xfrm>
            <a:off x="7955280" y="3840480"/>
            <a:ext cx="3474720" cy="219456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28600" tIns="182880"/>
          <a:lstStyle/>
          <a:p>
            <a:pPr algn="ctr">
              <a:defRPr sz="1300" b="1">
                <a:solidFill>
                  <a:srgbClr val="1E3A8A"/>
                </a:solidFill>
              </a:defRPr>
            </a:pPr>
            <a:r>
              <a:t>6. Production UI &amp; DB</a:t>
            </a:r>
          </a:p>
          <a:p>
            <a:pPr>
              <a:spcBef>
                <a:spcPts val="600"/>
              </a:spcBef>
              <a:defRPr sz="1050">
                <a:solidFill>
                  <a:srgbClr val="1E293B"/>
                </a:solidFill>
              </a:defRPr>
            </a:pPr>
            <a:r>
              <a:t>Create responsive React.js frontend with SQLite database storage for analysis history.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Problem Statement &amp; Process Comparison</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Traditional Manual Screening</a:t>
            </a:r>
          </a:p>
          <a:p>
            <a:pPr>
              <a:spcAft>
                <a:spcPts val="1000"/>
              </a:spcAft>
              <a:defRPr sz="1100">
                <a:solidFill>
                  <a:srgbClr val="1E293B"/>
                </a:solidFill>
              </a:defRPr>
            </a:pPr>
            <a:r>
              <a:t>• High Time Consumption: Manual reading of hundreds of resumes takes days.</a:t>
            </a:r>
          </a:p>
          <a:p>
            <a:pPr>
              <a:spcAft>
                <a:spcPts val="1000"/>
              </a:spcAft>
              <a:defRPr sz="1100">
                <a:solidFill>
                  <a:srgbClr val="1E293B"/>
                </a:solidFill>
              </a:defRPr>
            </a:pPr>
            <a:r>
              <a:t>• Keyword Bias &amp; Oversight: Critical technical skills easily overlooked in long text.</a:t>
            </a:r>
          </a:p>
          <a:p>
            <a:pPr>
              <a:spcAft>
                <a:spcPts val="1000"/>
              </a:spcAft>
              <a:defRPr sz="1100">
                <a:solidFill>
                  <a:srgbClr val="1E293B"/>
                </a:solidFill>
              </a:defRPr>
            </a:pPr>
            <a:r>
              <a:t>• No Candidate Feedback: Applicants receive no insights into missing skills or gap areas.</a:t>
            </a:r>
          </a:p>
        </p:txBody>
      </p:sp>
      <p:sp>
        <p:nvSpPr>
          <p:cNvPr id="5" name="Rounded Rectangle 4"/>
          <p:cNvSpPr/>
          <p:nvPr/>
        </p:nvSpPr>
        <p:spPr>
          <a:xfrm>
            <a:off x="6217920" y="1371600"/>
            <a:ext cx="52422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Proposed NLP/ML Solution</a:t>
            </a:r>
          </a:p>
          <a:p>
            <a:pPr>
              <a:spcAft>
                <a:spcPts val="1000"/>
              </a:spcAft>
              <a:defRPr sz="1100">
                <a:solidFill>
                  <a:srgbClr val="1E293B"/>
                </a:solidFill>
              </a:defRPr>
            </a:pPr>
            <a:r>
              <a:t>• Automated Multi-Format Parsing: Instantly extracts text from PDF, DOCX, TXT.</a:t>
            </a:r>
          </a:p>
          <a:p>
            <a:pPr>
              <a:spcAft>
                <a:spcPts val="1000"/>
              </a:spcAft>
              <a:defRPr sz="1100">
                <a:solidFill>
                  <a:srgbClr val="1E293B"/>
                </a:solidFill>
              </a:defRPr>
            </a:pPr>
            <a:r>
              <a:t>• TF-IDF &amp; Cosine Vector Match: Mathematical similarity calculation unaffected by formatting.</a:t>
            </a:r>
          </a:p>
          <a:p>
            <a:pPr>
              <a:spcAft>
                <a:spcPts val="1000"/>
              </a:spcAft>
              <a:defRPr sz="1100">
                <a:solidFill>
                  <a:srgbClr val="1E293B"/>
                </a:solidFill>
              </a:defRPr>
            </a:pPr>
            <a:r>
              <a:t>• Transparent Skill Gap Insights: Identifies matched vs missing skills and guides candidate learning.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Proposed System Flowchart &amp; High-Level Workflow</a:t>
            </a:r>
          </a:p>
        </p:txBody>
      </p:sp>
      <p:sp>
        <p:nvSpPr>
          <p:cNvPr id="4" name="Rounded Rectangle 3"/>
          <p:cNvSpPr/>
          <p:nvPr/>
        </p:nvSpPr>
        <p:spPr>
          <a:xfrm>
            <a:off x="731520"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1. Input Document</a:t>
            </a:r>
          </a:p>
          <a:p>
            <a:pPr>
              <a:spcBef>
                <a:spcPts val="800"/>
              </a:spcBef>
              <a:defRPr sz="950">
                <a:solidFill>
                  <a:srgbClr val="1E293B"/>
                </a:solidFill>
              </a:defRPr>
            </a:pPr>
            <a:r>
              <a:t>PDF / DOCX / TXT Resume Upload</a:t>
            </a:r>
          </a:p>
        </p:txBody>
      </p:sp>
      <p:sp>
        <p:nvSpPr>
          <p:cNvPr id="5" name="Right Arrow 4"/>
          <p:cNvSpPr/>
          <p:nvPr/>
        </p:nvSpPr>
        <p:spPr>
          <a:xfrm>
            <a:off x="2066543"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267712"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2. Text Extraction</a:t>
            </a:r>
          </a:p>
          <a:p>
            <a:pPr>
              <a:spcBef>
                <a:spcPts val="800"/>
              </a:spcBef>
              <a:defRPr sz="950">
                <a:solidFill>
                  <a:srgbClr val="1E293B"/>
                </a:solidFill>
              </a:defRPr>
            </a:pPr>
            <a:r>
              <a:t>PyMuPDF &amp; python-docx Parsing</a:t>
            </a:r>
          </a:p>
        </p:txBody>
      </p:sp>
      <p:sp>
        <p:nvSpPr>
          <p:cNvPr id="7" name="Right Arrow 6"/>
          <p:cNvSpPr/>
          <p:nvPr/>
        </p:nvSpPr>
        <p:spPr>
          <a:xfrm>
            <a:off x="3602736"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803904"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3. Preprocessing</a:t>
            </a:r>
          </a:p>
          <a:p>
            <a:pPr>
              <a:spcBef>
                <a:spcPts val="800"/>
              </a:spcBef>
              <a:defRPr sz="950">
                <a:solidFill>
                  <a:srgbClr val="1E293B"/>
                </a:solidFill>
              </a:defRPr>
            </a:pPr>
            <a:r>
              <a:t>Cleaning, Stop-words, Normalization</a:t>
            </a:r>
          </a:p>
        </p:txBody>
      </p:sp>
      <p:sp>
        <p:nvSpPr>
          <p:cNvPr id="9" name="Right Arrow 8"/>
          <p:cNvSpPr/>
          <p:nvPr/>
        </p:nvSpPr>
        <p:spPr>
          <a:xfrm>
            <a:off x="5138928"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340096"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4. Feature Vectorization</a:t>
            </a:r>
          </a:p>
          <a:p>
            <a:pPr>
              <a:spcBef>
                <a:spcPts val="800"/>
              </a:spcBef>
              <a:defRPr sz="950">
                <a:solidFill>
                  <a:srgbClr val="1E293B"/>
                </a:solidFill>
              </a:defRPr>
            </a:pPr>
            <a:r>
              <a:t>TF-IDF Vector Representation</a:t>
            </a:r>
          </a:p>
        </p:txBody>
      </p:sp>
      <p:sp>
        <p:nvSpPr>
          <p:cNvPr id="11" name="Right Arrow 10"/>
          <p:cNvSpPr/>
          <p:nvPr/>
        </p:nvSpPr>
        <p:spPr>
          <a:xfrm>
            <a:off x="6675120"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876288"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5. Cosine Similarity</a:t>
            </a:r>
          </a:p>
          <a:p>
            <a:pPr>
              <a:spcBef>
                <a:spcPts val="800"/>
              </a:spcBef>
              <a:defRPr sz="950">
                <a:solidFill>
                  <a:srgbClr val="1E293B"/>
                </a:solidFill>
              </a:defRPr>
            </a:pPr>
            <a:r>
              <a:t>Vector Alignment Calculation</a:t>
            </a:r>
          </a:p>
        </p:txBody>
      </p:sp>
      <p:sp>
        <p:nvSpPr>
          <p:cNvPr id="13" name="Right Arrow 12"/>
          <p:cNvSpPr/>
          <p:nvPr/>
        </p:nvSpPr>
        <p:spPr>
          <a:xfrm>
            <a:off x="8211312"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80"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6. Skill Matching</a:t>
            </a:r>
          </a:p>
          <a:p>
            <a:pPr>
              <a:spcBef>
                <a:spcPts val="800"/>
              </a:spcBef>
              <a:defRPr sz="950">
                <a:solidFill>
                  <a:srgbClr val="1E293B"/>
                </a:solidFill>
              </a:defRPr>
            </a:pPr>
            <a:r>
              <a:t>Matched &amp; Missing Skill Extraction</a:t>
            </a:r>
          </a:p>
        </p:txBody>
      </p:sp>
      <p:sp>
        <p:nvSpPr>
          <p:cNvPr id="15" name="Right Arrow 14"/>
          <p:cNvSpPr/>
          <p:nvPr/>
        </p:nvSpPr>
        <p:spPr>
          <a:xfrm>
            <a:off x="9747504" y="3200400"/>
            <a:ext cx="164592" cy="274320"/>
          </a:xfrm>
          <a:prstGeom prst="rightArrow">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948672" y="2011680"/>
            <a:ext cx="1371600" cy="292608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sz="1100" b="1">
                <a:solidFill>
                  <a:srgbClr val="1E3A8A"/>
                </a:solidFill>
              </a:defRPr>
            </a:pPr>
            <a:r>
              <a:t>7. Action Roadmap</a:t>
            </a:r>
          </a:p>
          <a:p>
            <a:pPr>
              <a:spcBef>
                <a:spcPts val="800"/>
              </a:spcBef>
              <a:defRPr sz="950">
                <a:solidFill>
                  <a:srgbClr val="1E293B"/>
                </a:solidFill>
              </a:defRPr>
            </a:pPr>
            <a:r>
              <a:t>Targeted Learning Guidance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Layered System Architecture Flowchart</a:t>
            </a:r>
          </a:p>
        </p:txBody>
      </p:sp>
      <p:sp>
        <p:nvSpPr>
          <p:cNvPr id="4" name="Rounded Rectangle 3"/>
          <p:cNvSpPr/>
          <p:nvPr/>
        </p:nvSpPr>
        <p:spPr>
          <a:xfrm>
            <a:off x="1371600" y="1371600"/>
            <a:ext cx="9448495" cy="1005840"/>
          </a:xfrm>
          <a:prstGeom prst="roundRect">
            <a:avLst/>
          </a:prstGeom>
          <a:solidFill>
            <a:srgbClr val="F8FAFC"/>
          </a:solidFill>
          <a:ln w="2540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2563EB"/>
                </a:solidFill>
              </a:defRPr>
            </a:pPr>
            <a:r>
              <a:t>USER INTERFACE LAYER</a:t>
            </a:r>
          </a:p>
          <a:p>
            <a:pPr>
              <a:spcBef>
                <a:spcPts val="400"/>
              </a:spcBef>
              <a:defRPr sz="1100">
                <a:solidFill>
                  <a:srgbClr val="1E293B"/>
                </a:solidFill>
              </a:defRPr>
            </a:pPr>
            <a:r>
              <a:t>React.js Frontend | Tailwind CSS | Recharts Dashboard</a:t>
            </a:r>
          </a:p>
        </p:txBody>
      </p:sp>
      <p:sp>
        <p:nvSpPr>
          <p:cNvPr id="5" name="Rounded Rectangle 4"/>
          <p:cNvSpPr/>
          <p:nvPr/>
        </p:nvSpPr>
        <p:spPr>
          <a:xfrm>
            <a:off x="1371600" y="2606040"/>
            <a:ext cx="9448495" cy="1005840"/>
          </a:xfrm>
          <a:prstGeom prst="roundRect">
            <a:avLst/>
          </a:prstGeom>
          <a:solidFill>
            <a:srgbClr val="F8FAFC"/>
          </a:solidFill>
          <a:ln w="25400">
            <a:solidFill>
              <a:srgbClr val="0D9488"/>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0D9488"/>
                </a:solidFill>
              </a:defRPr>
            </a:pPr>
            <a:r>
              <a:t>API &amp; CONTROLLER LAYER</a:t>
            </a:r>
          </a:p>
          <a:p>
            <a:pPr>
              <a:spcBef>
                <a:spcPts val="400"/>
              </a:spcBef>
              <a:defRPr sz="1100">
                <a:solidFill>
                  <a:srgbClr val="1E293B"/>
                </a:solidFill>
              </a:defRPr>
            </a:pPr>
            <a:r>
              <a:t>FastAPI REST Server | CORS Middleware | PII Masking Engine</a:t>
            </a:r>
          </a:p>
        </p:txBody>
      </p:sp>
      <p:sp>
        <p:nvSpPr>
          <p:cNvPr id="6" name="Rounded Rectangle 5"/>
          <p:cNvSpPr/>
          <p:nvPr/>
        </p:nvSpPr>
        <p:spPr>
          <a:xfrm>
            <a:off x="1371600" y="3840480"/>
            <a:ext cx="9448495" cy="1005840"/>
          </a:xfrm>
          <a:prstGeom prst="roundRect">
            <a:avLst/>
          </a:prstGeom>
          <a:solidFill>
            <a:srgbClr val="F8FAFC"/>
          </a:solidFill>
          <a:ln w="25400">
            <a:solidFill>
              <a:srgbClr val="1E3A8A"/>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1E3A8A"/>
                </a:solidFill>
              </a:defRPr>
            </a:pPr>
            <a:r>
              <a:t>NLP &amp; ML CORE ENGINE</a:t>
            </a:r>
          </a:p>
          <a:p>
            <a:pPr>
              <a:spcBef>
                <a:spcPts val="400"/>
              </a:spcBef>
              <a:defRPr sz="1100">
                <a:solidFill>
                  <a:srgbClr val="1E293B"/>
                </a:solidFill>
              </a:defRPr>
            </a:pPr>
            <a:r>
              <a:t>PyMuPDF Text Extractor | TF-IDF Vectorizer | Cosine Matcher | Skill Normalizer</a:t>
            </a:r>
          </a:p>
        </p:txBody>
      </p:sp>
      <p:sp>
        <p:nvSpPr>
          <p:cNvPr id="7" name="Rounded Rectangle 6"/>
          <p:cNvSpPr/>
          <p:nvPr/>
        </p:nvSpPr>
        <p:spPr>
          <a:xfrm>
            <a:off x="1371600" y="5074920"/>
            <a:ext cx="9448495" cy="1005840"/>
          </a:xfrm>
          <a:prstGeom prst="roundRect">
            <a:avLst/>
          </a:prstGeom>
          <a:solidFill>
            <a:srgbClr val="F8FAFC"/>
          </a:solidFill>
          <a:ln w="25400">
            <a:solidFill>
              <a:srgbClr val="475569"/>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475569"/>
                </a:solidFill>
              </a:defRPr>
            </a:pPr>
            <a:r>
              <a:t>PERSISTENCE &amp; DATA LAYER</a:t>
            </a:r>
          </a:p>
          <a:p>
            <a:pPr>
              <a:spcBef>
                <a:spcPts val="400"/>
              </a:spcBef>
              <a:defRPr sz="1100">
                <a:solidFill>
                  <a:srgbClr val="1E293B"/>
                </a:solidFill>
              </a:defRPr>
            </a:pPr>
            <a:r>
              <a:t>SQLite Database | SQLAlchemy 2.0 ORM | Local Skill Dictionary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NLP Text Preprocessing Pipeline Flowchart</a:t>
            </a:r>
          </a:p>
        </p:txBody>
      </p:sp>
      <p:sp>
        <p:nvSpPr>
          <p:cNvPr id="4" name="Rounded Rectangle 3"/>
          <p:cNvSpPr/>
          <p:nvPr/>
        </p:nvSpPr>
        <p:spPr>
          <a:xfrm>
            <a:off x="731520" y="146304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1: Raw Text Extraction</a:t>
            </a:r>
          </a:p>
          <a:p>
            <a:pPr>
              <a:spcBef>
                <a:spcPts val="600"/>
              </a:spcBef>
              <a:defRPr sz="1050">
                <a:solidFill>
                  <a:srgbClr val="1E293B"/>
                </a:solidFill>
              </a:defRPr>
            </a:pPr>
            <a:r>
              <a:t>PyMuPDF/Docx extract text strings</a:t>
            </a:r>
          </a:p>
        </p:txBody>
      </p:sp>
      <p:sp>
        <p:nvSpPr>
          <p:cNvPr id="5" name="Rounded Rectangle 4"/>
          <p:cNvSpPr/>
          <p:nvPr/>
        </p:nvSpPr>
        <p:spPr>
          <a:xfrm>
            <a:off x="4343400" y="146304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2: Text Cleaning</a:t>
            </a:r>
          </a:p>
          <a:p>
            <a:pPr>
              <a:spcBef>
                <a:spcPts val="600"/>
              </a:spcBef>
              <a:defRPr sz="1050">
                <a:solidFill>
                  <a:srgbClr val="1E293B"/>
                </a:solidFill>
              </a:defRPr>
            </a:pPr>
            <a:r>
              <a:t>Remove special symbols, URLs, email addresses</a:t>
            </a:r>
          </a:p>
        </p:txBody>
      </p:sp>
      <p:sp>
        <p:nvSpPr>
          <p:cNvPr id="6" name="Rounded Rectangle 5"/>
          <p:cNvSpPr/>
          <p:nvPr/>
        </p:nvSpPr>
        <p:spPr>
          <a:xfrm>
            <a:off x="7955280" y="146304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3: Technical Token Protection</a:t>
            </a:r>
          </a:p>
          <a:p>
            <a:pPr>
              <a:spcBef>
                <a:spcPts val="600"/>
              </a:spcBef>
              <a:defRPr sz="1050">
                <a:solidFill>
                  <a:srgbClr val="1E293B"/>
                </a:solidFill>
              </a:defRPr>
            </a:pPr>
            <a:r>
              <a:t>Preserve C++, C#, .NET, React.js tokens</a:t>
            </a:r>
          </a:p>
        </p:txBody>
      </p:sp>
      <p:sp>
        <p:nvSpPr>
          <p:cNvPr id="7" name="Rounded Rectangle 6"/>
          <p:cNvSpPr/>
          <p:nvPr/>
        </p:nvSpPr>
        <p:spPr>
          <a:xfrm>
            <a:off x="731520" y="384048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4: Case Normalization</a:t>
            </a:r>
          </a:p>
          <a:p>
            <a:pPr>
              <a:spcBef>
                <a:spcPts val="600"/>
              </a:spcBef>
              <a:defRPr sz="1050">
                <a:solidFill>
                  <a:srgbClr val="1E293B"/>
                </a:solidFill>
              </a:defRPr>
            </a:pPr>
            <a:r>
              <a:t>Convert text to lowercase for uniformity</a:t>
            </a:r>
          </a:p>
        </p:txBody>
      </p:sp>
      <p:sp>
        <p:nvSpPr>
          <p:cNvPr id="8" name="Rounded Rectangle 7"/>
          <p:cNvSpPr/>
          <p:nvPr/>
        </p:nvSpPr>
        <p:spPr>
          <a:xfrm>
            <a:off x="4343400" y="384048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5: Stop-word Filtering</a:t>
            </a:r>
          </a:p>
          <a:p>
            <a:pPr>
              <a:spcBef>
                <a:spcPts val="600"/>
              </a:spcBef>
              <a:defRPr sz="1050">
                <a:solidFill>
                  <a:srgbClr val="1E293B"/>
                </a:solidFill>
              </a:defRPr>
            </a:pPr>
            <a:r>
              <a:t>Remove common English words (and, the, with)</a:t>
            </a:r>
          </a:p>
        </p:txBody>
      </p:sp>
      <p:sp>
        <p:nvSpPr>
          <p:cNvPr id="9" name="Rounded Rectangle 8"/>
          <p:cNvSpPr/>
          <p:nvPr/>
        </p:nvSpPr>
        <p:spPr>
          <a:xfrm>
            <a:off x="7955280" y="3840480"/>
            <a:ext cx="347472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a:lstStyle/>
          <a:p>
            <a:pPr algn="ctr">
              <a:defRPr sz="1200" b="1">
                <a:solidFill>
                  <a:srgbClr val="1E3A8A"/>
                </a:solidFill>
              </a:defRPr>
            </a:pPr>
            <a:r>
              <a:t>Step 6: TF-IDF Matrix</a:t>
            </a:r>
          </a:p>
          <a:p>
            <a:pPr>
              <a:spcBef>
                <a:spcPts val="600"/>
              </a:spcBef>
              <a:defRPr sz="1050">
                <a:solidFill>
                  <a:srgbClr val="1E293B"/>
                </a:solidFill>
              </a:defRPr>
            </a:pPr>
            <a:r>
              <a:t>Generate sparse numerical feature vectors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TF-IDF Vectorization &amp; Cosine Similarity Mathematics</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TF-IDF Mathematical Formulation</a:t>
            </a:r>
          </a:p>
          <a:p>
            <a:pPr>
              <a:spcAft>
                <a:spcPts val="1000"/>
              </a:spcAft>
              <a:defRPr sz="1100">
                <a:solidFill>
                  <a:srgbClr val="1E293B"/>
                </a:solidFill>
              </a:defRPr>
            </a:pPr>
            <a:r>
              <a:t>• Term Frequency (TF): Measures how frequently a skill term t appears in document d.</a:t>
            </a:r>
          </a:p>
          <a:p>
            <a:pPr>
              <a:spcAft>
                <a:spcPts val="1000"/>
              </a:spcAft>
              <a:defRPr sz="1100">
                <a:solidFill>
                  <a:srgbClr val="1E293B"/>
                </a:solidFill>
              </a:defRPr>
            </a:pPr>
            <a:r>
              <a:t>• Inverse Document Frequency (IDF): Evaluates term rarity across overall corpus: IDF(t) = log(N / df(t)).</a:t>
            </a:r>
          </a:p>
          <a:p>
            <a:pPr>
              <a:spcAft>
                <a:spcPts val="1000"/>
              </a:spcAft>
              <a:defRPr sz="1100">
                <a:solidFill>
                  <a:srgbClr val="1E293B"/>
                </a:solidFill>
              </a:defRPr>
            </a:pPr>
            <a:r>
              <a:t>• TF-IDF Weight: W(t,d) = TF(t,d) * IDF(t). Gives high weights to specific technical skills like PyMuPDF.</a:t>
            </a:r>
          </a:p>
        </p:txBody>
      </p:sp>
      <p:sp>
        <p:nvSpPr>
          <p:cNvPr id="5" name="Rounded Rectangle 4"/>
          <p:cNvSpPr/>
          <p:nvPr/>
        </p:nvSpPr>
        <p:spPr>
          <a:xfrm>
            <a:off x="6217920" y="1371600"/>
            <a:ext cx="52422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Cosine Similarity Vector Alignment</a:t>
            </a:r>
          </a:p>
          <a:p>
            <a:pPr>
              <a:defRPr sz="1200" b="1">
                <a:solidFill>
                  <a:srgbClr val="0D9488"/>
                </a:solidFill>
              </a:defRPr>
            </a:pPr>
            <a:r>
              <a:t>Cosine Similarity Formula:</a:t>
            </a:r>
          </a:p>
          <a:p>
            <a:pPr>
              <a:spcAft>
                <a:spcPts val="1200"/>
              </a:spcAft>
              <a:defRPr sz="1400" b="1">
                <a:solidFill>
                  <a:srgbClr val="1E3A8A"/>
                </a:solidFill>
              </a:defRPr>
            </a:pPr>
            <a:r>
              <a:t>Similarity(A, B) = (A · B) / (||A|| * ||B||)</a:t>
            </a:r>
          </a:p>
          <a:p>
            <a:pPr>
              <a:spcAft>
                <a:spcPts val="800"/>
              </a:spcAft>
              <a:defRPr sz="1100">
                <a:solidFill>
                  <a:srgbClr val="1E293B"/>
                </a:solidFill>
              </a:defRPr>
            </a:pPr>
            <a:r>
              <a:t>• A = Resume TF-IDF Vector | B = Job Description TF-IDF Vector</a:t>
            </a:r>
          </a:p>
          <a:p>
            <a:pPr>
              <a:spcAft>
                <a:spcPts val="800"/>
              </a:spcAft>
              <a:defRPr sz="1100">
                <a:solidFill>
                  <a:srgbClr val="1E293B"/>
                </a:solidFill>
              </a:defRPr>
            </a:pPr>
            <a:r>
              <a:t>• Computes the cosine of the angle between two n-dimensional vectors.</a:t>
            </a:r>
          </a:p>
          <a:p>
            <a:pPr>
              <a:spcAft>
                <a:spcPts val="800"/>
              </a:spcAft>
              <a:defRPr sz="1100">
                <a:solidFill>
                  <a:srgbClr val="1E293B"/>
                </a:solidFill>
              </a:defRPr>
            </a:pPr>
            <a:r>
              <a:t>• Range: 0.0 (No overlap) to 1.0 (100% exact match). Length-invariant comparison.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Skill Extraction &amp; Synonym Normalization Engine</a:t>
            </a:r>
          </a:p>
        </p:txBody>
      </p:sp>
      <p:sp>
        <p:nvSpPr>
          <p:cNvPr id="4" name="Rounded Rectangle 3"/>
          <p:cNvSpPr/>
          <p:nvPr/>
        </p:nvSpPr>
        <p:spPr>
          <a:xfrm>
            <a:off x="731520" y="1371600"/>
            <a:ext cx="10728655"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365760" tIns="274320"/>
          <a:lstStyle/>
          <a:p>
            <a:pPr algn="ctr">
              <a:defRPr sz="1600" b="1">
                <a:solidFill>
                  <a:srgbClr val="1E3A8A"/>
                </a:solidFill>
              </a:defRPr>
            </a:pPr>
            <a:r>
              <a:t>Transparent Skill Dictionary &amp; Alias Normalization</a:t>
            </a:r>
          </a:p>
          <a:p>
            <a:pPr>
              <a:spcAft>
                <a:spcPts val="1200"/>
              </a:spcAft>
              <a:defRPr sz="1200">
                <a:solidFill>
                  <a:srgbClr val="1E293B"/>
                </a:solidFill>
              </a:defRPr>
            </a:pPr>
            <a:r>
              <a:t>• Curated Skill Catalog: 150+ standard CSE skills mapped across Languages, Frameworks, ML/AI, Databases, and Tools.</a:t>
            </a:r>
          </a:p>
          <a:p>
            <a:pPr>
              <a:spcAft>
                <a:spcPts val="1200"/>
              </a:spcAft>
              <a:defRPr sz="1200">
                <a:solidFill>
                  <a:srgbClr val="1E293B"/>
                </a:solidFill>
              </a:defRPr>
            </a:pPr>
            <a:r>
              <a:t>• Synonym &amp; Alias Mapping: Normalizes variations (e.g., 'JS' -&gt; 'JavaScript', 'React.js' -&gt; 'React', 'Sklearn' -&gt; 'Scikit-learn').</a:t>
            </a:r>
          </a:p>
          <a:p>
            <a:pPr>
              <a:spcAft>
                <a:spcPts val="1200"/>
              </a:spcAft>
              <a:defRPr sz="1200">
                <a:solidFill>
                  <a:srgbClr val="1E293B"/>
                </a:solidFill>
              </a:defRPr>
            </a:pPr>
            <a:r>
              <a:t>• Aho-Corasick &amp; Regex Parsing: Fast keyword lookup preventing false positives during extraction.</a:t>
            </a:r>
          </a:p>
          <a:p>
            <a:pPr>
              <a:spcAft>
                <a:spcPts val="1200"/>
              </a:spcAft>
              <a:defRPr sz="1200">
                <a:solidFill>
                  <a:srgbClr val="1E293B"/>
                </a:solidFill>
              </a:defRPr>
            </a:pPr>
            <a:r>
              <a:t>• Categorization: Groups extracted skills into core domains for structured dashboard visualization.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Skill Gap Analysis &amp; Recommendation Engine</a:t>
            </a:r>
          </a:p>
        </p:txBody>
      </p:sp>
      <p:sp>
        <p:nvSpPr>
          <p:cNvPr id="4" name="Rounded Rectangle 3"/>
          <p:cNvSpPr/>
          <p:nvPr/>
        </p:nvSpPr>
        <p:spPr>
          <a:xfrm>
            <a:off x="731520" y="137160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Skill Gap Identification</a:t>
            </a:r>
          </a:p>
          <a:p>
            <a:pPr>
              <a:spcAft>
                <a:spcPts val="1000"/>
              </a:spcAft>
              <a:defRPr sz="1100">
                <a:solidFill>
                  <a:srgbClr val="1E293B"/>
                </a:solidFill>
              </a:defRPr>
            </a:pPr>
            <a:r>
              <a:t>• Set Difference Operation: Missing Skills = Job Required Skills - Resume Skills.</a:t>
            </a:r>
          </a:p>
          <a:p>
            <a:pPr>
              <a:spcAft>
                <a:spcPts val="1000"/>
              </a:spcAft>
              <a:defRPr sz="1100">
                <a:solidFill>
                  <a:srgbClr val="1E293B"/>
                </a:solidFill>
              </a:defRPr>
            </a:pPr>
            <a:r>
              <a:t>• Identify Key Weaknesses: Pinpoints exact technical gaps like Docker, PyTorch, or Spring Boot.</a:t>
            </a:r>
          </a:p>
          <a:p>
            <a:pPr>
              <a:spcAft>
                <a:spcPts val="1000"/>
              </a:spcAft>
              <a:defRPr sz="1100">
                <a:solidFill>
                  <a:srgbClr val="1E293B"/>
                </a:solidFill>
              </a:defRPr>
            </a:pPr>
            <a:r>
              <a:t>• Matched Skills Recognition: Highlights candidate strengths to boost interview confidence.</a:t>
            </a:r>
          </a:p>
        </p:txBody>
      </p:sp>
      <p:sp>
        <p:nvSpPr>
          <p:cNvPr id="5" name="Rounded Rectangle 4"/>
          <p:cNvSpPr/>
          <p:nvPr/>
        </p:nvSpPr>
        <p:spPr>
          <a:xfrm>
            <a:off x="6217920" y="1371600"/>
            <a:ext cx="5242255" cy="4846320"/>
          </a:xfrm>
          <a:prstGeom prst="roundRect">
            <a:avLst/>
          </a:prstGeom>
          <a:solidFill>
            <a:srgbClr val="F8FAFC"/>
          </a:solidFill>
          <a:ln w="1905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wrap="square" lIns="274320" tIns="274320"/>
          <a:lstStyle/>
          <a:p>
            <a:pPr algn="ctr">
              <a:defRPr sz="1500" b="1">
                <a:solidFill>
                  <a:srgbClr val="1E3A8A"/>
                </a:solidFill>
              </a:defRPr>
            </a:pPr>
            <a:r>
              <a:t>Actionable Learning Recommendations</a:t>
            </a:r>
          </a:p>
          <a:p>
            <a:pPr>
              <a:spcAft>
                <a:spcPts val="1000"/>
              </a:spcAft>
              <a:defRPr sz="1100">
                <a:solidFill>
                  <a:srgbClr val="1E293B"/>
                </a:solidFill>
              </a:defRPr>
            </a:pPr>
            <a:r>
              <a:t>• Interactive Roadmap: Provides actionable study modules for each identified missing skill.</a:t>
            </a:r>
          </a:p>
          <a:p>
            <a:pPr>
              <a:spcAft>
                <a:spcPts val="1000"/>
              </a:spcAft>
              <a:defRPr sz="1100">
                <a:solidFill>
                  <a:srgbClr val="1E293B"/>
                </a:solidFill>
              </a:defRPr>
            </a:pPr>
            <a:r>
              <a:t>• Status Tracking: Candidates toggle tasks between 'Not Started', 'In Progress', and 'Completed'.</a:t>
            </a:r>
          </a:p>
          <a:p>
            <a:pPr>
              <a:spcAft>
                <a:spcPts val="1000"/>
              </a:spcAft>
              <a:defRPr sz="1100">
                <a:solidFill>
                  <a:srgbClr val="1E293B"/>
                </a:solidFill>
              </a:defRPr>
            </a:pPr>
            <a:r>
              <a:t>• Career Assistance Tool: Focuses on candidate growth rather than automated rejection.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Algorithm &amp; Match Approach Comparison</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286000"/>
                <a:gridCol w="2743200"/>
                <a:gridCol w="2743200"/>
                <a:gridCol w="2956255"/>
              </a:tblGrid>
              <a:tr h="969264">
                <a:tc>
                  <a:txBody>
                    <a:bodyPr/>
                    <a:lstStyle/>
                    <a:p>
                      <a:pPr>
                        <a:defRPr sz="1100" b="1">
                          <a:solidFill>
                            <a:srgbClr val="1E3A8A"/>
                          </a:solidFill>
                        </a:defRPr>
                      </a:pPr>
                      <a:r>
                        <a:t>Approach / Model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Matching Logic</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Advantages</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Limitations / Trade-offs</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Exact Keyword Search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String matching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Fast execution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Ignores synonyms &amp; context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TF-IDF + Cosine (Chosen)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Term frequency vector 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Weighted term importance, fast &amp; transparent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Requires dictionary for synonym resolution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Word2Vec / GloVe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Dense vector embeddings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Captures semantic context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Higher computational overhead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Transformer (SBERT)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Deep contextual embeddings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State-of-the-art semantic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Heavy memory requirement &amp; latency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Project Implementation &amp; Core Software Modules</a:t>
            </a:r>
          </a:p>
        </p:txBody>
      </p:sp>
      <p:sp>
        <p:nvSpPr>
          <p:cNvPr id="4" name="Rounded Rectangle 3"/>
          <p:cNvSpPr/>
          <p:nvPr/>
        </p:nvSpPr>
        <p:spPr>
          <a:xfrm>
            <a:off x="731520" y="1463040"/>
            <a:ext cx="52578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400" b="1">
                <a:solidFill>
                  <a:srgbClr val="1E3A8A"/>
                </a:solidFill>
              </a:defRPr>
            </a:pPr>
            <a:r>
              <a:t>FastAPI Backend</a:t>
            </a:r>
          </a:p>
          <a:p>
            <a:pPr>
              <a:spcBef>
                <a:spcPts val="600"/>
              </a:spcBef>
              <a:defRPr sz="1100">
                <a:solidFill>
                  <a:srgbClr val="1E293B"/>
                </a:solidFill>
              </a:defRPr>
            </a:pPr>
            <a:r>
              <a:t>Python 3.14 REST server handling file uploads, preprocessing, similarity scoring, and SQLite persistence.</a:t>
            </a:r>
          </a:p>
        </p:txBody>
      </p:sp>
      <p:sp>
        <p:nvSpPr>
          <p:cNvPr id="5" name="Rounded Rectangle 4"/>
          <p:cNvSpPr/>
          <p:nvPr/>
        </p:nvSpPr>
        <p:spPr>
          <a:xfrm>
            <a:off x="6172200" y="1463040"/>
            <a:ext cx="52578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400" b="1">
                <a:solidFill>
                  <a:srgbClr val="1E3A8A"/>
                </a:solidFill>
              </a:defRPr>
            </a:pPr>
            <a:r>
              <a:t>React 18 Frontend</a:t>
            </a:r>
          </a:p>
          <a:p>
            <a:pPr>
              <a:spcBef>
                <a:spcPts val="600"/>
              </a:spcBef>
              <a:defRPr sz="1100">
                <a:solidFill>
                  <a:srgbClr val="1E293B"/>
                </a:solidFill>
              </a:defRPr>
            </a:pPr>
            <a:r>
              <a:t>Vite-powered SPA with Tailwind CSS responsive dashboard, interactive charts, and dual-pane text editor.</a:t>
            </a:r>
          </a:p>
        </p:txBody>
      </p:sp>
      <p:sp>
        <p:nvSpPr>
          <p:cNvPr id="6" name="Rounded Rectangle 5"/>
          <p:cNvSpPr/>
          <p:nvPr/>
        </p:nvSpPr>
        <p:spPr>
          <a:xfrm>
            <a:off x="731520" y="3840480"/>
            <a:ext cx="52578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400" b="1">
                <a:solidFill>
                  <a:srgbClr val="1E3A8A"/>
                </a:solidFill>
              </a:defRPr>
            </a:pPr>
            <a:r>
              <a:t>Document Parsers</a:t>
            </a:r>
          </a:p>
          <a:p>
            <a:pPr>
              <a:spcBef>
                <a:spcPts val="600"/>
              </a:spcBef>
              <a:defRPr sz="1100">
                <a:solidFill>
                  <a:srgbClr val="1E293B"/>
                </a:solidFill>
              </a:defRPr>
            </a:pPr>
            <a:r>
              <a:t>PyMuPDF for multi-page PDF text extraction; python-docx for DOCX document parsing.</a:t>
            </a:r>
          </a:p>
        </p:txBody>
      </p:sp>
      <p:sp>
        <p:nvSpPr>
          <p:cNvPr id="7" name="Rounded Rectangle 6"/>
          <p:cNvSpPr/>
          <p:nvPr/>
        </p:nvSpPr>
        <p:spPr>
          <a:xfrm>
            <a:off x="6172200" y="3840480"/>
            <a:ext cx="52578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a:lstStyle/>
          <a:p>
            <a:pPr algn="ctr">
              <a:defRPr sz="1400" b="1">
                <a:solidFill>
                  <a:srgbClr val="1E3A8A"/>
                </a:solidFill>
              </a:defRPr>
            </a:pPr>
            <a:r>
              <a:t>SQLite Database</a:t>
            </a:r>
          </a:p>
          <a:p>
            <a:pPr>
              <a:spcBef>
                <a:spcPts val="600"/>
              </a:spcBef>
              <a:defRPr sz="1100">
                <a:solidFill>
                  <a:srgbClr val="1E293B"/>
                </a:solidFill>
              </a:defRPr>
            </a:pPr>
            <a:r>
              <a:t>SQLAlchemy 2.0 ORM storing historical analysis records, similarity scores, and timestamps.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System Architecture Feature Matrix</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3200400"/>
                <a:gridCol w="4114800"/>
                <a:gridCol w="3413455"/>
              </a:tblGrid>
              <a:tr h="807720">
                <a:tc>
                  <a:txBody>
                    <a:bodyPr/>
                    <a:lstStyle/>
                    <a:p>
                      <a:pPr>
                        <a:defRPr sz="1100" b="1">
                          <a:solidFill>
                            <a:srgbClr val="1E3A8A"/>
                          </a:solidFill>
                        </a:defRPr>
                      </a:pPr>
                      <a:r>
                        <a:t>System Module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Technical Technology / Tool</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Implementation Function</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1050">
                          <a:solidFill>
                            <a:srgbClr val="1E293B"/>
                          </a:solidFill>
                        </a:defRPr>
                      </a:pPr>
                      <a:r>
                        <a:t>Document Ingestion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PyMuPDF, python-docx</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Multi-format text extraction from PDF/DOCX files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1050">
                          <a:solidFill>
                            <a:srgbClr val="1E293B"/>
                          </a:solidFill>
                        </a:defRPr>
                      </a:pPr>
                      <a:r>
                        <a:t>Text Preprocessing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Regex, NLTK stop-words</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Text cleaning, tokenization, synonym normalization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1050">
                          <a:solidFill>
                            <a:srgbClr val="1E293B"/>
                          </a:solidFill>
                        </a:defRPr>
                      </a:pPr>
                      <a:r>
                        <a:t>Feature Vectorization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Scikit-Learn TfidfVectorizer</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Numerical sparse feature matrix generation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1050">
                          <a:solidFill>
                            <a:srgbClr val="1E293B"/>
                          </a:solidFill>
                        </a:defRPr>
                      </a:pPr>
                      <a:r>
                        <a:t>Similarity Matching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Scikit-Learn cosine_similarity</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Vector dot-product calculation for score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807720">
                <a:tc>
                  <a:txBody>
                    <a:bodyPr/>
                    <a:lstStyle/>
                    <a:p>
                      <a:pPr>
                        <a:defRPr sz="1050">
                          <a:solidFill>
                            <a:srgbClr val="1E293B"/>
                          </a:solidFill>
                        </a:defRPr>
                      </a:pPr>
                      <a:r>
                        <a:t>Data Persistence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SQLite, SQLAlchemy 2.0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Historical analysis record storage</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Engineering Challenges &amp; Practical Solutions</a:t>
            </a:r>
          </a:p>
        </p:txBody>
      </p:sp>
      <p:sp>
        <p:nvSpPr>
          <p:cNvPr id="4" name="Rounded Rectangle 3"/>
          <p:cNvSpPr/>
          <p:nvPr/>
        </p:nvSpPr>
        <p:spPr>
          <a:xfrm>
            <a:off x="731520" y="1371600"/>
            <a:ext cx="10728655" cy="1371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1E3A8A"/>
                </a:solidFill>
              </a:defRPr>
            </a:pPr>
            <a:r>
              <a:t>1. Unstructured Resume Formatting</a:t>
            </a:r>
          </a:p>
          <a:p>
            <a:pPr>
              <a:spcBef>
                <a:spcPts val="400"/>
              </a:spcBef>
              <a:defRPr sz="1050">
                <a:solidFill>
                  <a:srgbClr val="1E293B"/>
                </a:solidFill>
              </a:defRPr>
            </a:pPr>
            <a:r>
              <a:t>Challenge: PDF layouts caused jumbled text strings during extraction.</a:t>
            </a:r>
            <a:br/>
            <a:r>
              <a:t>Solution: Implemented PyMuPDF block position sorting and clean newline joining.</a:t>
            </a:r>
          </a:p>
        </p:txBody>
      </p:sp>
      <p:sp>
        <p:nvSpPr>
          <p:cNvPr id="5" name="Rounded Rectangle 4"/>
          <p:cNvSpPr/>
          <p:nvPr/>
        </p:nvSpPr>
        <p:spPr>
          <a:xfrm>
            <a:off x="731520" y="2971800"/>
            <a:ext cx="10728655" cy="1371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1E3A8A"/>
                </a:solidFill>
              </a:defRPr>
            </a:pPr>
            <a:r>
              <a:t>2. Punctuation Stripping Bug</a:t>
            </a:r>
          </a:p>
          <a:p>
            <a:pPr>
              <a:spcBef>
                <a:spcPts val="400"/>
              </a:spcBef>
              <a:defRPr sz="1050">
                <a:solidFill>
                  <a:srgbClr val="1E293B"/>
                </a:solidFill>
              </a:defRPr>
            </a:pPr>
            <a:r>
              <a:t>Challenge: Standard regex destroyed technical tokens like 'C++', 'C#', '.NET', 'React.js'.</a:t>
            </a:r>
            <a:br/>
            <a:r>
              <a:t>Solution: Added pre-tokenization regex mappings (C++ -&gt; cplusplus, .NET -&gt; dotnet).</a:t>
            </a:r>
          </a:p>
        </p:txBody>
      </p:sp>
      <p:sp>
        <p:nvSpPr>
          <p:cNvPr id="6" name="Rounded Rectangle 5"/>
          <p:cNvSpPr/>
          <p:nvPr/>
        </p:nvSpPr>
        <p:spPr>
          <a:xfrm>
            <a:off x="731520" y="4572000"/>
            <a:ext cx="10728655" cy="137160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tIns="137160"/>
          <a:lstStyle/>
          <a:p>
            <a:pPr algn="ctr">
              <a:defRPr sz="1300" b="1">
                <a:solidFill>
                  <a:srgbClr val="1E3A8A"/>
                </a:solidFill>
              </a:defRPr>
            </a:pPr>
            <a:r>
              <a:t>3. Synonym Variations</a:t>
            </a:r>
          </a:p>
          <a:p>
            <a:pPr>
              <a:spcBef>
                <a:spcPts val="400"/>
              </a:spcBef>
              <a:defRPr sz="1050">
                <a:solidFill>
                  <a:srgbClr val="1E293B"/>
                </a:solidFill>
              </a:defRPr>
            </a:pPr>
            <a:r>
              <a:t>Challenge: Candidates write 'JS' while job specs request 'JavaScript'.</a:t>
            </a:r>
            <a:br/>
            <a:r>
              <a:t>Solution: Created transparent JSON skill catalog mapping aliases to canonical skill names.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SHORT-TERM INDUSTRY INTERNSHIP REVIEW</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Model Evaluation &amp; Verification Metrics</a:t>
            </a:r>
          </a:p>
        </p:txBody>
      </p:sp>
      <p:graphicFrame>
        <p:nvGraphicFramePr>
          <p:cNvPr id="4" name="Table 3"/>
          <p:cNvGraphicFramePr>
            <a:graphicFrameLocks noGrp="1"/>
          </p:cNvGraphicFramePr>
          <p:nvPr/>
        </p:nvGraphicFramePr>
        <p:xfrm>
          <a:off x="731520" y="1371600"/>
          <a:ext cx="10728655" cy="4846320"/>
        </p:xfrm>
        <a:graphic>
          <a:graphicData uri="http://schemas.openxmlformats.org/drawingml/2006/table">
            <a:tbl>
              <a:tblPr firstRow="1" bandRow="1">
                <a:tableStyleId>{5C22544A-7EE6-4342-B048-85BDC9FD1C3A}</a:tableStyleId>
              </a:tblPr>
              <a:tblGrid>
                <a:gridCol w="2743200"/>
                <a:gridCol w="2560320"/>
                <a:gridCol w="2560320"/>
                <a:gridCol w="2864815"/>
              </a:tblGrid>
              <a:tr h="969264">
                <a:tc>
                  <a:txBody>
                    <a:bodyPr/>
                    <a:lstStyle/>
                    <a:p>
                      <a:pPr>
                        <a:defRPr sz="1100" b="1">
                          <a:solidFill>
                            <a:srgbClr val="1E3A8A"/>
                          </a:solidFill>
                        </a:defRPr>
                      </a:pPr>
                      <a:r>
                        <a:t>Test Scenario</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Expected Outcome</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Observed Result</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100" b="1">
                          <a:solidFill>
                            <a:srgbClr val="1E3A8A"/>
                          </a:solidFill>
                        </a:defRPr>
                      </a:pPr>
                      <a:r>
                        <a:t>System Status</a:t>
                      </a:r>
                    </a:p>
                  </a:txBody>
                  <a:tcPr>
                    <a:solidFill>
                      <a:srgbClr val="F8FAFC"/>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Identical Text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 100%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 100.0%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0D9488"/>
                          </a:solidFill>
                        </a:defRPr>
                      </a:pPr>
                      <a:r>
                        <a:t>PASSED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Partial Skill Match</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 60-80%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 74.2%</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0D9488"/>
                          </a:solidFill>
                        </a:defRPr>
                      </a:pPr>
                      <a:r>
                        <a:t>PASSED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Unrelated Domain Text</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&lt; 20%</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Similarity = 8.5%</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0D9488"/>
                          </a:solidFill>
                        </a:defRPr>
                      </a:pPr>
                      <a:r>
                        <a:t>PASSED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r h="969264">
                <a:tc>
                  <a:txBody>
                    <a:bodyPr/>
                    <a:lstStyle/>
                    <a:p>
                      <a:pPr>
                        <a:defRPr sz="1050">
                          <a:solidFill>
                            <a:srgbClr val="1E293B"/>
                          </a:solidFill>
                        </a:defRPr>
                      </a:pPr>
                      <a:r>
                        <a:t>Multi-page PDF Parsing</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Clean text extraction</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1E293B"/>
                          </a:solidFill>
                        </a:defRPr>
                      </a:pPr>
                      <a:r>
                        <a:t>100% text recovered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c>
                  <a:txBody>
                    <a:bodyPr/>
                    <a:lstStyle/>
                    <a:p>
                      <a:pPr>
                        <a:defRPr sz="1050">
                          <a:solidFill>
                            <a:srgbClr val="0D9488"/>
                          </a:solidFill>
                        </a:defRPr>
                      </a:pPr>
                      <a:r>
                        <a:t>PASSED</a:t>
                      </a:r>
                    </a:p>
                  </a:txBody>
                  <a:tcPr>
                    <a:solidFill>
                      <a:srgbClr val="FFFFFF"/>
                    </a:solidFill>
                    <a:lnL w="31750" cmpd="s">
                      <a:solidFill>
                        <a:srgbClr val="000000"/>
                      </a:solidFill>
                    </a:lnL>
                    <a:lnR w="31750" cmpd="s">
                      <a:solidFill>
                        <a:srgbClr val="000000"/>
                      </a:solidFill>
                    </a:lnR>
                    <a:lnT w="31750" cmpd="s">
                      <a:solidFill>
                        <a:srgbClr val="000000"/>
                      </a:solidFill>
                    </a:lnT>
                    <a:lnB w="31750" cmpd="s">
                      <a:solidFill>
                        <a:srgbClr val="000000"/>
                      </a:solidFill>
                    </a:lnB>
                  </a:tcPr>
                </a:tc>
              </a:tr>
            </a:tbl>
          </a:graphicData>
        </a:graphic>
      </p:graphicFrame>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APPLICATION DEMO SCREENSHOTS</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Live Demo 1 — Resume Upload &amp; Text Extraction Interface</a:t>
            </a:r>
          </a:p>
        </p:txBody>
      </p:sp>
      <p:pic>
        <p:nvPicPr>
          <p:cNvPr id="4" name="Picture 3" descr="demo_1_upload.png"/>
          <p:cNvPicPr>
            <a:picLocks noChangeAspect="1"/>
          </p:cNvPicPr>
          <p:nvPr/>
        </p:nvPicPr>
        <p:blipFill>
          <a:blip r:embed="rId2"/>
          <a:stretch>
            <a:fillRect/>
          </a:stretch>
        </p:blipFill>
        <p:spPr>
          <a:xfrm>
            <a:off x="731520" y="1371600"/>
            <a:ext cx="10728655"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APPLICATION DEMO SCREENSHOTS</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Live Demo 2 — Dual-Pane Job Matching &amp; TF-IDF Score UI</a:t>
            </a:r>
          </a:p>
        </p:txBody>
      </p:sp>
      <p:pic>
        <p:nvPicPr>
          <p:cNvPr id="4" name="Picture 3" descr="demo_1_upload.png"/>
          <p:cNvPicPr>
            <a:picLocks noChangeAspect="1"/>
          </p:cNvPicPr>
          <p:nvPr/>
        </p:nvPicPr>
        <p:blipFill>
          <a:blip r:embed="rId2"/>
          <a:stretch>
            <a:fillRect/>
          </a:stretch>
        </p:blipFill>
        <p:spPr>
          <a:xfrm>
            <a:off x="731520" y="1371600"/>
            <a:ext cx="10728655" cy="484632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APPLICATION DEMO SCREENSHOTS</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Live Demo 3 — Skill Gap &amp; Interactive Learning Roadmap UI</a:t>
            </a:r>
          </a:p>
        </p:txBody>
      </p:sp>
      <p:pic>
        <p:nvPicPr>
          <p:cNvPr id="4" name="Picture 3" descr="demo_1_upload.png"/>
          <p:cNvPicPr>
            <a:picLocks noChangeAspect="1"/>
          </p:cNvPicPr>
          <p:nvPr/>
        </p:nvPicPr>
        <p:blipFill>
          <a:blip r:embed="rId2"/>
          <a:stretch>
            <a:fillRect/>
          </a:stretch>
        </p:blipFill>
        <p:spPr>
          <a:xfrm>
            <a:off x="731520" y="1371600"/>
            <a:ext cx="10728655" cy="484632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365760"/>
            <a:ext cx="10728655" cy="320040"/>
          </a:xfrm>
          <a:prstGeom prst="rect">
            <a:avLst/>
          </a:prstGeom>
          <a:noFill/>
        </p:spPr>
        <p:txBody>
          <a:bodyPr wrap="none">
            <a:spAutoFit/>
          </a:bodyPr>
          <a:lstStyle/>
          <a:p>
            <a:pPr>
              <a:defRPr sz="1000" b="1">
                <a:solidFill>
                  <a:srgbClr val="2563EB"/>
                </a:solidFill>
              </a:defRPr>
            </a:pPr>
            <a:r>
              <a:t>APPLICATION DEMO SCREENSHOTS</a:t>
            </a:r>
          </a:p>
        </p:txBody>
      </p:sp>
      <p:sp>
        <p:nvSpPr>
          <p:cNvPr id="3" name="TextBox 2"/>
          <p:cNvSpPr txBox="1"/>
          <p:nvPr/>
        </p:nvSpPr>
        <p:spPr>
          <a:xfrm>
            <a:off x="731520" y="640080"/>
            <a:ext cx="10728655" cy="685800"/>
          </a:xfrm>
          <a:prstGeom prst="rect">
            <a:avLst/>
          </a:prstGeom>
          <a:noFill/>
        </p:spPr>
        <p:txBody>
          <a:bodyPr wrap="none">
            <a:spAutoFit/>
          </a:bodyPr>
          <a:lstStyle/>
          <a:p>
            <a:pPr>
              <a:defRPr sz="2200" b="1">
                <a:solidFill>
                  <a:srgbClr val="1E3A8A"/>
                </a:solidFill>
              </a:defRPr>
            </a:pPr>
            <a:r>
              <a:t>Live Demo 4 — SQLite Analysis History Log &amp; Skill Catalog UI</a:t>
            </a:r>
          </a:p>
        </p:txBody>
      </p:sp>
      <p:pic>
        <p:nvPicPr>
          <p:cNvPr id="4" name="Picture 3" descr="demo_4_history.png"/>
          <p:cNvPicPr>
            <a:picLocks noChangeAspect="1"/>
          </p:cNvPicPr>
          <p:nvPr/>
        </p:nvPicPr>
        <p:blipFill>
          <a:blip r:embed="rId2"/>
          <a:stretch>
            <a:fillRect/>
          </a:stretch>
        </p:blipFill>
        <p:spPr>
          <a:xfrm>
            <a:off x="731520" y="1371600"/>
            <a:ext cx="10728655" cy="484632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